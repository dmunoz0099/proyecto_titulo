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8"/>
  </p:notesMasterIdLst>
  <p:sldIdLst>
    <p:sldId id="266" r:id="rId2"/>
    <p:sldId id="276" r:id="rId3"/>
    <p:sldId id="279" r:id="rId4"/>
    <p:sldId id="280" r:id="rId5"/>
    <p:sldId id="282" r:id="rId6"/>
    <p:sldId id="283" r:id="rId7"/>
    <p:sldId id="284" r:id="rId8"/>
    <p:sldId id="286" r:id="rId9"/>
    <p:sldId id="289" r:id="rId10"/>
    <p:sldId id="291" r:id="rId11"/>
    <p:sldId id="292" r:id="rId12"/>
    <p:sldId id="293" r:id="rId13"/>
    <p:sldId id="294" r:id="rId14"/>
    <p:sldId id="314" r:id="rId15"/>
    <p:sldId id="297" r:id="rId16"/>
    <p:sldId id="298" r:id="rId17"/>
    <p:sldId id="301" r:id="rId18"/>
    <p:sldId id="302" r:id="rId19"/>
    <p:sldId id="303" r:id="rId20"/>
    <p:sldId id="316" r:id="rId21"/>
    <p:sldId id="307" r:id="rId22"/>
    <p:sldId id="308" r:id="rId23"/>
    <p:sldId id="315" r:id="rId24"/>
    <p:sldId id="312" r:id="rId25"/>
    <p:sldId id="313" r:id="rId26"/>
    <p:sldId id="277" r:id="rId27"/>
  </p:sldIdLst>
  <p:sldSz cx="9144000" cy="6858000" type="letter"/>
  <p:notesSz cx="6858000" cy="9144000"/>
  <p:defaultTextStyle>
    <a:defPPr>
      <a:defRPr lang="es-ES_trad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0000"/>
    <a:srgbClr val="E3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56" autoAdjust="0"/>
    <p:restoredTop sz="94626"/>
  </p:normalViewPr>
  <p:slideViewPr>
    <p:cSldViewPr snapToGrid="0" snapToObjects="1">
      <p:cViewPr varScale="1">
        <p:scale>
          <a:sx n="64" d="100"/>
          <a:sy n="64" d="100"/>
        </p:scale>
        <p:origin x="726" y="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blo Schwarzenberg" userId="dbef0c8369ca2ce2" providerId="LiveId" clId="{042C4480-1833-444C-95C2-52F971E7FE30}"/>
    <pc:docChg chg="modSld">
      <pc:chgData name="Pablo Schwarzenberg" userId="dbef0c8369ca2ce2" providerId="LiveId" clId="{042C4480-1833-444C-95C2-52F971E7FE30}" dt="2024-10-24T14:40:12.229" v="59" actId="20577"/>
      <pc:docMkLst>
        <pc:docMk/>
      </pc:docMkLst>
      <pc:sldChg chg="modSp mod">
        <pc:chgData name="Pablo Schwarzenberg" userId="dbef0c8369ca2ce2" providerId="LiveId" clId="{042C4480-1833-444C-95C2-52F971E7FE30}" dt="2024-10-24T14:39:52.902" v="29" actId="20577"/>
        <pc:sldMkLst>
          <pc:docMk/>
          <pc:sldMk cId="737038098" sldId="266"/>
        </pc:sldMkLst>
        <pc:spChg chg="mod">
          <ac:chgData name="Pablo Schwarzenberg" userId="dbef0c8369ca2ce2" providerId="LiveId" clId="{042C4480-1833-444C-95C2-52F971E7FE30}" dt="2024-10-24T14:39:52.902" v="29" actId="20577"/>
          <ac:spMkLst>
            <pc:docMk/>
            <pc:sldMk cId="737038098" sldId="266"/>
            <ac:spMk id="13" creationId="{00000000-0000-0000-0000-000000000000}"/>
          </ac:spMkLst>
        </pc:spChg>
      </pc:sldChg>
      <pc:sldChg chg="modSp mod">
        <pc:chgData name="Pablo Schwarzenberg" userId="dbef0c8369ca2ce2" providerId="LiveId" clId="{042C4480-1833-444C-95C2-52F971E7FE30}" dt="2024-10-24T14:40:12.229" v="59" actId="20577"/>
        <pc:sldMkLst>
          <pc:docMk/>
          <pc:sldMk cId="4152450814" sldId="277"/>
        </pc:sldMkLst>
        <pc:spChg chg="mod">
          <ac:chgData name="Pablo Schwarzenberg" userId="dbef0c8369ca2ce2" providerId="LiveId" clId="{042C4480-1833-444C-95C2-52F971E7FE30}" dt="2024-10-24T14:40:12.229" v="59" actId="20577"/>
          <ac:spMkLst>
            <pc:docMk/>
            <pc:sldMk cId="4152450814" sldId="277"/>
            <ac:spMk id="13" creationId="{00000000-0000-0000-0000-000000000000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svg"/><Relationship Id="rId1" Type="http://schemas.openxmlformats.org/officeDocument/2006/relationships/image" Target="../media/image5.svg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svg"/><Relationship Id="rId1" Type="http://schemas.openxmlformats.org/officeDocument/2006/relationships/image" Target="../media/image5.svg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73AC2A8-430B-4FF1-ABE2-5966A93010C3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n-US"/>
        </a:p>
      </dgm:t>
    </dgm:pt>
    <dgm:pt modelId="{64A3F17B-3B4E-41A7-B82E-E40D7B4A5BF9}">
      <dgm:prSet/>
      <dgm:spPr/>
      <dgm:t>
        <a:bodyPr/>
        <a:lstStyle/>
        <a:p>
          <a:r>
            <a:rPr lang="en-US" b="0"/>
            <a:t>1.  Introducción y Problemática</a:t>
          </a:r>
          <a:endParaRPr lang="en-US"/>
        </a:p>
      </dgm:t>
    </dgm:pt>
    <dgm:pt modelId="{CA30E3B4-C4A0-4D44-81CC-902AEEDF2620}" type="parTrans" cxnId="{8FFDFD26-5131-480D-8111-62F30DAAC178}">
      <dgm:prSet/>
      <dgm:spPr/>
      <dgm:t>
        <a:bodyPr/>
        <a:lstStyle/>
        <a:p>
          <a:endParaRPr lang="en-US"/>
        </a:p>
      </dgm:t>
    </dgm:pt>
    <dgm:pt modelId="{49A2ACD9-A26C-4911-AC8F-79E9713BB7EE}" type="sibTrans" cxnId="{8FFDFD26-5131-480D-8111-62F30DAAC178}">
      <dgm:prSet/>
      <dgm:spPr/>
      <dgm:t>
        <a:bodyPr/>
        <a:lstStyle/>
        <a:p>
          <a:endParaRPr lang="en-US"/>
        </a:p>
      </dgm:t>
    </dgm:pt>
    <dgm:pt modelId="{3A1FF0FD-657C-4570-9B4F-A2CC96DE41A9}">
      <dgm:prSet/>
      <dgm:spPr/>
      <dgm:t>
        <a:bodyPr/>
        <a:lstStyle/>
        <a:p>
          <a:r>
            <a:rPr lang="en-US" b="0"/>
            <a:t>2.  Discusión Bibliográfica</a:t>
          </a:r>
          <a:endParaRPr lang="en-US"/>
        </a:p>
      </dgm:t>
    </dgm:pt>
    <dgm:pt modelId="{EBBDB9BC-1E4B-4D44-BE38-1AAD39B2029A}" type="parTrans" cxnId="{5D09B380-6D99-4192-B406-E827132F9DA0}">
      <dgm:prSet/>
      <dgm:spPr/>
      <dgm:t>
        <a:bodyPr/>
        <a:lstStyle/>
        <a:p>
          <a:endParaRPr lang="en-US"/>
        </a:p>
      </dgm:t>
    </dgm:pt>
    <dgm:pt modelId="{E08E8B37-DA18-4094-A9EC-535D536B3CD0}" type="sibTrans" cxnId="{5D09B380-6D99-4192-B406-E827132F9DA0}">
      <dgm:prSet/>
      <dgm:spPr/>
      <dgm:t>
        <a:bodyPr/>
        <a:lstStyle/>
        <a:p>
          <a:endParaRPr lang="en-US"/>
        </a:p>
      </dgm:t>
    </dgm:pt>
    <dgm:pt modelId="{3C72EB92-4875-4473-83F1-539CCAC6B706}">
      <dgm:prSet/>
      <dgm:spPr/>
      <dgm:t>
        <a:bodyPr/>
        <a:lstStyle/>
        <a:p>
          <a:r>
            <a:rPr lang="en-US" b="0"/>
            <a:t>3.  Objetivos</a:t>
          </a:r>
          <a:endParaRPr lang="en-US"/>
        </a:p>
      </dgm:t>
    </dgm:pt>
    <dgm:pt modelId="{7E6F173E-483D-4F79-AB5A-F6E0799FEB26}" type="parTrans" cxnId="{3B2B6849-7269-4BBD-AECB-2B06B037E9BB}">
      <dgm:prSet/>
      <dgm:spPr/>
      <dgm:t>
        <a:bodyPr/>
        <a:lstStyle/>
        <a:p>
          <a:endParaRPr lang="en-US"/>
        </a:p>
      </dgm:t>
    </dgm:pt>
    <dgm:pt modelId="{1995900F-21B0-4AC4-82C8-91255D1D6BD2}" type="sibTrans" cxnId="{3B2B6849-7269-4BBD-AECB-2B06B037E9BB}">
      <dgm:prSet/>
      <dgm:spPr/>
      <dgm:t>
        <a:bodyPr/>
        <a:lstStyle/>
        <a:p>
          <a:endParaRPr lang="en-US"/>
        </a:p>
      </dgm:t>
    </dgm:pt>
    <dgm:pt modelId="{ED60E02B-EF18-4161-B5CE-AF53885A15D5}">
      <dgm:prSet/>
      <dgm:spPr/>
      <dgm:t>
        <a:bodyPr/>
        <a:lstStyle/>
        <a:p>
          <a:r>
            <a:rPr lang="en-US" b="0"/>
            <a:t>4.  Metodología</a:t>
          </a:r>
          <a:endParaRPr lang="en-US"/>
        </a:p>
      </dgm:t>
    </dgm:pt>
    <dgm:pt modelId="{EB9F7E7E-37A1-4E43-8DE5-750AC4B46E16}" type="parTrans" cxnId="{BE6ACFF3-7EC3-45BC-AB01-134EAEE62719}">
      <dgm:prSet/>
      <dgm:spPr/>
      <dgm:t>
        <a:bodyPr/>
        <a:lstStyle/>
        <a:p>
          <a:endParaRPr lang="en-US"/>
        </a:p>
      </dgm:t>
    </dgm:pt>
    <dgm:pt modelId="{E8265D97-4D47-43EB-AC9B-A61053DD47C8}" type="sibTrans" cxnId="{BE6ACFF3-7EC3-45BC-AB01-134EAEE62719}">
      <dgm:prSet/>
      <dgm:spPr/>
      <dgm:t>
        <a:bodyPr/>
        <a:lstStyle/>
        <a:p>
          <a:endParaRPr lang="en-US"/>
        </a:p>
      </dgm:t>
    </dgm:pt>
    <dgm:pt modelId="{CE4E30D0-4D0A-40F0-BD8A-10ADFDF6147F}">
      <dgm:prSet/>
      <dgm:spPr/>
      <dgm:t>
        <a:bodyPr/>
        <a:lstStyle/>
        <a:p>
          <a:r>
            <a:rPr lang="en-US" b="0"/>
            <a:t>5.  Resultados</a:t>
          </a:r>
          <a:endParaRPr lang="en-US"/>
        </a:p>
      </dgm:t>
    </dgm:pt>
    <dgm:pt modelId="{AAF82A36-AC75-4AD3-A345-BEB2545C17DC}" type="parTrans" cxnId="{C46440EC-CC3C-4FE8-949E-BC18DC3098DA}">
      <dgm:prSet/>
      <dgm:spPr/>
      <dgm:t>
        <a:bodyPr/>
        <a:lstStyle/>
        <a:p>
          <a:endParaRPr lang="en-US"/>
        </a:p>
      </dgm:t>
    </dgm:pt>
    <dgm:pt modelId="{F5C21A98-2FC9-4AED-A91B-A3886EDDC7FD}" type="sibTrans" cxnId="{C46440EC-CC3C-4FE8-949E-BC18DC3098DA}">
      <dgm:prSet/>
      <dgm:spPr/>
      <dgm:t>
        <a:bodyPr/>
        <a:lstStyle/>
        <a:p>
          <a:endParaRPr lang="en-US"/>
        </a:p>
      </dgm:t>
    </dgm:pt>
    <dgm:pt modelId="{D0DF1148-6DB0-47FE-8056-EE9DC45091DF}">
      <dgm:prSet/>
      <dgm:spPr/>
      <dgm:t>
        <a:bodyPr/>
        <a:lstStyle/>
        <a:p>
          <a:r>
            <a:rPr lang="en-US" b="0"/>
            <a:t>6.  Conclusiones</a:t>
          </a:r>
          <a:endParaRPr lang="en-US"/>
        </a:p>
      </dgm:t>
    </dgm:pt>
    <dgm:pt modelId="{E0D8F532-1522-4C47-8E88-3538D5BFBFE3}" type="parTrans" cxnId="{D87956F7-977D-4B3F-9BFA-53D61A24153A}">
      <dgm:prSet/>
      <dgm:spPr/>
      <dgm:t>
        <a:bodyPr/>
        <a:lstStyle/>
        <a:p>
          <a:endParaRPr lang="en-US"/>
        </a:p>
      </dgm:t>
    </dgm:pt>
    <dgm:pt modelId="{A269ABB2-64BA-4795-8305-4E7082AC0027}" type="sibTrans" cxnId="{D87956F7-977D-4B3F-9BFA-53D61A24153A}">
      <dgm:prSet/>
      <dgm:spPr/>
      <dgm:t>
        <a:bodyPr/>
        <a:lstStyle/>
        <a:p>
          <a:endParaRPr lang="en-US"/>
        </a:p>
      </dgm:t>
    </dgm:pt>
    <dgm:pt modelId="{F2F9447B-255D-4341-9BB8-56CE6101E67B}">
      <dgm:prSet/>
      <dgm:spPr/>
      <dgm:t>
        <a:bodyPr/>
        <a:lstStyle/>
        <a:p>
          <a:r>
            <a:rPr lang="en-US" b="0"/>
            <a:t>7.  Bibliografía</a:t>
          </a:r>
          <a:endParaRPr lang="en-US"/>
        </a:p>
      </dgm:t>
    </dgm:pt>
    <dgm:pt modelId="{4F9A4B02-2A74-4F45-89E6-08AD41EDA22B}" type="parTrans" cxnId="{5E4ADB6A-8D05-4158-AD69-98C7345893C3}">
      <dgm:prSet/>
      <dgm:spPr/>
      <dgm:t>
        <a:bodyPr/>
        <a:lstStyle/>
        <a:p>
          <a:endParaRPr lang="en-US"/>
        </a:p>
      </dgm:t>
    </dgm:pt>
    <dgm:pt modelId="{1E677D54-8609-49EF-9BB5-F86FF3C43011}" type="sibTrans" cxnId="{5E4ADB6A-8D05-4158-AD69-98C7345893C3}">
      <dgm:prSet/>
      <dgm:spPr/>
      <dgm:t>
        <a:bodyPr/>
        <a:lstStyle/>
        <a:p>
          <a:endParaRPr lang="en-US"/>
        </a:p>
      </dgm:t>
    </dgm:pt>
    <dgm:pt modelId="{6DF20D2E-2E9D-463A-97A9-4149782D3D51}" type="pres">
      <dgm:prSet presAssocID="{C73AC2A8-430B-4FF1-ABE2-5966A93010C3}" presName="root" presStyleCnt="0">
        <dgm:presLayoutVars>
          <dgm:dir/>
          <dgm:resizeHandles val="exact"/>
        </dgm:presLayoutVars>
      </dgm:prSet>
      <dgm:spPr/>
    </dgm:pt>
    <dgm:pt modelId="{D1723AA6-5B39-4CEF-9955-F5AB78B28140}" type="pres">
      <dgm:prSet presAssocID="{64A3F17B-3B4E-41A7-B82E-E40D7B4A5BF9}" presName="compNode" presStyleCnt="0"/>
      <dgm:spPr/>
    </dgm:pt>
    <dgm:pt modelId="{2B2DD89B-42B2-4014-9029-7CEAC35FB9B8}" type="pres">
      <dgm:prSet presAssocID="{64A3F17B-3B4E-41A7-B82E-E40D7B4A5BF9}" presName="bgRect" presStyleLbl="bgShp" presStyleIdx="0" presStyleCnt="7"/>
      <dgm:spPr/>
    </dgm:pt>
    <dgm:pt modelId="{55B6B75F-70CF-453E-BC3B-BD313345C0D2}" type="pres">
      <dgm:prSet presAssocID="{64A3F17B-3B4E-41A7-B82E-E40D7B4A5BF9}" presName="iconRect" presStyleLbl="node1" presStyleIdx="0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itor"/>
        </a:ext>
      </dgm:extLst>
    </dgm:pt>
    <dgm:pt modelId="{EF826F35-E2B9-4593-971F-2FFDD36298DE}" type="pres">
      <dgm:prSet presAssocID="{64A3F17B-3B4E-41A7-B82E-E40D7B4A5BF9}" presName="spaceRect" presStyleCnt="0"/>
      <dgm:spPr/>
    </dgm:pt>
    <dgm:pt modelId="{B85B9CF4-18CF-4F9F-8747-9B535D85074B}" type="pres">
      <dgm:prSet presAssocID="{64A3F17B-3B4E-41A7-B82E-E40D7B4A5BF9}" presName="parTx" presStyleLbl="revTx" presStyleIdx="0" presStyleCnt="7">
        <dgm:presLayoutVars>
          <dgm:chMax val="0"/>
          <dgm:chPref val="0"/>
        </dgm:presLayoutVars>
      </dgm:prSet>
      <dgm:spPr/>
    </dgm:pt>
    <dgm:pt modelId="{4ABB2855-BADC-466D-B6FA-C621DDF6A2CB}" type="pres">
      <dgm:prSet presAssocID="{49A2ACD9-A26C-4911-AC8F-79E9713BB7EE}" presName="sibTrans" presStyleCnt="0"/>
      <dgm:spPr/>
    </dgm:pt>
    <dgm:pt modelId="{F6592426-FBF1-419F-AAB8-2B523E3D71D0}" type="pres">
      <dgm:prSet presAssocID="{3A1FF0FD-657C-4570-9B4F-A2CC96DE41A9}" presName="compNode" presStyleCnt="0"/>
      <dgm:spPr/>
    </dgm:pt>
    <dgm:pt modelId="{438CD36E-CED3-42D6-8DC2-5F39CC27F6A2}" type="pres">
      <dgm:prSet presAssocID="{3A1FF0FD-657C-4570-9B4F-A2CC96DE41A9}" presName="bgRect" presStyleLbl="bgShp" presStyleIdx="1" presStyleCnt="7"/>
      <dgm:spPr/>
    </dgm:pt>
    <dgm:pt modelId="{63CB44D1-D39A-4D32-91FC-DD40C416BB80}" type="pres">
      <dgm:prSet presAssocID="{3A1FF0FD-657C-4570-9B4F-A2CC96DE41A9}" presName="iconRect" presStyleLbl="node1" presStyleIdx="1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eo"/>
        </a:ext>
      </dgm:extLst>
    </dgm:pt>
    <dgm:pt modelId="{2603E7B9-6B95-493B-8EA1-CD31974CFA19}" type="pres">
      <dgm:prSet presAssocID="{3A1FF0FD-657C-4570-9B4F-A2CC96DE41A9}" presName="spaceRect" presStyleCnt="0"/>
      <dgm:spPr/>
    </dgm:pt>
    <dgm:pt modelId="{E313052A-5916-4252-A9D9-3DB30844D8FA}" type="pres">
      <dgm:prSet presAssocID="{3A1FF0FD-657C-4570-9B4F-A2CC96DE41A9}" presName="parTx" presStyleLbl="revTx" presStyleIdx="1" presStyleCnt="7">
        <dgm:presLayoutVars>
          <dgm:chMax val="0"/>
          <dgm:chPref val="0"/>
        </dgm:presLayoutVars>
      </dgm:prSet>
      <dgm:spPr/>
    </dgm:pt>
    <dgm:pt modelId="{92B0AAE0-A41B-4D7E-84A3-40BD58004ED3}" type="pres">
      <dgm:prSet presAssocID="{E08E8B37-DA18-4094-A9EC-535D536B3CD0}" presName="sibTrans" presStyleCnt="0"/>
      <dgm:spPr/>
    </dgm:pt>
    <dgm:pt modelId="{E8F8FC3F-CD44-4230-9A92-0B901D0F4ED0}" type="pres">
      <dgm:prSet presAssocID="{3C72EB92-4875-4473-83F1-539CCAC6B706}" presName="compNode" presStyleCnt="0"/>
      <dgm:spPr/>
    </dgm:pt>
    <dgm:pt modelId="{C66DBA6A-E385-40C4-883F-911D69AF02BC}" type="pres">
      <dgm:prSet presAssocID="{3C72EB92-4875-4473-83F1-539CCAC6B706}" presName="bgRect" presStyleLbl="bgShp" presStyleIdx="2" presStyleCnt="7"/>
      <dgm:spPr/>
    </dgm:pt>
    <dgm:pt modelId="{F155E11E-AEF2-4A74-BA1D-3657768A2731}" type="pres">
      <dgm:prSet presAssocID="{3C72EB92-4875-4473-83F1-539CCAC6B706}" presName="iconRect" presStyleLbl="node1" presStyleIdx="2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ana"/>
        </a:ext>
      </dgm:extLst>
    </dgm:pt>
    <dgm:pt modelId="{8CDCF8A1-27E9-43E2-98B7-0099AD2215CA}" type="pres">
      <dgm:prSet presAssocID="{3C72EB92-4875-4473-83F1-539CCAC6B706}" presName="spaceRect" presStyleCnt="0"/>
      <dgm:spPr/>
    </dgm:pt>
    <dgm:pt modelId="{FF20DA72-FA17-406E-BCDC-C0A408FB856A}" type="pres">
      <dgm:prSet presAssocID="{3C72EB92-4875-4473-83F1-539CCAC6B706}" presName="parTx" presStyleLbl="revTx" presStyleIdx="2" presStyleCnt="7">
        <dgm:presLayoutVars>
          <dgm:chMax val="0"/>
          <dgm:chPref val="0"/>
        </dgm:presLayoutVars>
      </dgm:prSet>
      <dgm:spPr/>
    </dgm:pt>
    <dgm:pt modelId="{C6EFC78A-10E0-422C-BE63-6533AC90CD0F}" type="pres">
      <dgm:prSet presAssocID="{1995900F-21B0-4AC4-82C8-91255D1D6BD2}" presName="sibTrans" presStyleCnt="0"/>
      <dgm:spPr/>
    </dgm:pt>
    <dgm:pt modelId="{D7F0A75D-6613-4077-A55D-984772E58AEA}" type="pres">
      <dgm:prSet presAssocID="{ED60E02B-EF18-4161-B5CE-AF53885A15D5}" presName="compNode" presStyleCnt="0"/>
      <dgm:spPr/>
    </dgm:pt>
    <dgm:pt modelId="{4F335D0B-F952-45AC-917B-62F0D4E21AEB}" type="pres">
      <dgm:prSet presAssocID="{ED60E02B-EF18-4161-B5CE-AF53885A15D5}" presName="bgRect" presStyleLbl="bgShp" presStyleIdx="3" presStyleCnt="7"/>
      <dgm:spPr/>
    </dgm:pt>
    <dgm:pt modelId="{06DF695A-C4F4-438D-845A-5BEBCE1E7D95}" type="pres">
      <dgm:prSet presAssocID="{ED60E02B-EF18-4161-B5CE-AF53885A15D5}" presName="iconRect" presStyleLbl="node1" presStyleIdx="3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E6E2CFD3-3FB3-481E-9121-B7DB8E23D4CE}" type="pres">
      <dgm:prSet presAssocID="{ED60E02B-EF18-4161-B5CE-AF53885A15D5}" presName="spaceRect" presStyleCnt="0"/>
      <dgm:spPr/>
    </dgm:pt>
    <dgm:pt modelId="{6519E872-913B-400E-82A5-B58004BE12B4}" type="pres">
      <dgm:prSet presAssocID="{ED60E02B-EF18-4161-B5CE-AF53885A15D5}" presName="parTx" presStyleLbl="revTx" presStyleIdx="3" presStyleCnt="7">
        <dgm:presLayoutVars>
          <dgm:chMax val="0"/>
          <dgm:chPref val="0"/>
        </dgm:presLayoutVars>
      </dgm:prSet>
      <dgm:spPr/>
    </dgm:pt>
    <dgm:pt modelId="{68E045BB-5D57-43B8-A841-B9CE6933867B}" type="pres">
      <dgm:prSet presAssocID="{E8265D97-4D47-43EB-AC9B-A61053DD47C8}" presName="sibTrans" presStyleCnt="0"/>
      <dgm:spPr/>
    </dgm:pt>
    <dgm:pt modelId="{C2AC8374-6951-4DFB-ACFC-9CEC529DFB7D}" type="pres">
      <dgm:prSet presAssocID="{CE4E30D0-4D0A-40F0-BD8A-10ADFDF6147F}" presName="compNode" presStyleCnt="0"/>
      <dgm:spPr/>
    </dgm:pt>
    <dgm:pt modelId="{305AEAA7-D59B-49B2-B36B-18D55C3E6A28}" type="pres">
      <dgm:prSet presAssocID="{CE4E30D0-4D0A-40F0-BD8A-10ADFDF6147F}" presName="bgRect" presStyleLbl="bgShp" presStyleIdx="4" presStyleCnt="7"/>
      <dgm:spPr/>
    </dgm:pt>
    <dgm:pt modelId="{AEFFA1BF-493D-470F-A0CA-E62C74BC6DEA}" type="pres">
      <dgm:prSet presAssocID="{CE4E30D0-4D0A-40F0-BD8A-10ADFDF6147F}" presName="iconRect" presStyleLbl="node1" presStyleIdx="4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75232854-C7EF-45B3-919D-25E858F44317}" type="pres">
      <dgm:prSet presAssocID="{CE4E30D0-4D0A-40F0-BD8A-10ADFDF6147F}" presName="spaceRect" presStyleCnt="0"/>
      <dgm:spPr/>
    </dgm:pt>
    <dgm:pt modelId="{AD4BEFD8-1612-4855-A20D-40AE535A470B}" type="pres">
      <dgm:prSet presAssocID="{CE4E30D0-4D0A-40F0-BD8A-10ADFDF6147F}" presName="parTx" presStyleLbl="revTx" presStyleIdx="4" presStyleCnt="7">
        <dgm:presLayoutVars>
          <dgm:chMax val="0"/>
          <dgm:chPref val="0"/>
        </dgm:presLayoutVars>
      </dgm:prSet>
      <dgm:spPr/>
    </dgm:pt>
    <dgm:pt modelId="{4A75718C-CA52-4DA2-9843-0B2D13C0CC5B}" type="pres">
      <dgm:prSet presAssocID="{F5C21A98-2FC9-4AED-A91B-A3886EDDC7FD}" presName="sibTrans" presStyleCnt="0"/>
      <dgm:spPr/>
    </dgm:pt>
    <dgm:pt modelId="{EB8329EB-C71A-4A93-A22B-8E7FDD225E85}" type="pres">
      <dgm:prSet presAssocID="{D0DF1148-6DB0-47FE-8056-EE9DC45091DF}" presName="compNode" presStyleCnt="0"/>
      <dgm:spPr/>
    </dgm:pt>
    <dgm:pt modelId="{DBB5BEDD-4B17-4C31-9382-8C8363823A00}" type="pres">
      <dgm:prSet presAssocID="{D0DF1148-6DB0-47FE-8056-EE9DC45091DF}" presName="bgRect" presStyleLbl="bgShp" presStyleIdx="5" presStyleCnt="7"/>
      <dgm:spPr/>
    </dgm:pt>
    <dgm:pt modelId="{A613A263-DD0B-43B8-A1F9-520BCC151AEC}" type="pres">
      <dgm:prSet presAssocID="{D0DF1148-6DB0-47FE-8056-EE9DC45091DF}" presName="iconRect" presStyleLbl="node1" presStyleIdx="5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05EF2BE3-575D-410A-84C3-1E333698D6BD}" type="pres">
      <dgm:prSet presAssocID="{D0DF1148-6DB0-47FE-8056-EE9DC45091DF}" presName="spaceRect" presStyleCnt="0"/>
      <dgm:spPr/>
    </dgm:pt>
    <dgm:pt modelId="{F4F01FB8-B347-469C-A2EC-BC6219DAD1B7}" type="pres">
      <dgm:prSet presAssocID="{D0DF1148-6DB0-47FE-8056-EE9DC45091DF}" presName="parTx" presStyleLbl="revTx" presStyleIdx="5" presStyleCnt="7">
        <dgm:presLayoutVars>
          <dgm:chMax val="0"/>
          <dgm:chPref val="0"/>
        </dgm:presLayoutVars>
      </dgm:prSet>
      <dgm:spPr/>
    </dgm:pt>
    <dgm:pt modelId="{5D60A3CA-678F-4365-95F0-012C90EC67E1}" type="pres">
      <dgm:prSet presAssocID="{A269ABB2-64BA-4795-8305-4E7082AC0027}" presName="sibTrans" presStyleCnt="0"/>
      <dgm:spPr/>
    </dgm:pt>
    <dgm:pt modelId="{6531452A-D190-46A8-BED0-0918E4EBD5C8}" type="pres">
      <dgm:prSet presAssocID="{F2F9447B-255D-4341-9BB8-56CE6101E67B}" presName="compNode" presStyleCnt="0"/>
      <dgm:spPr/>
    </dgm:pt>
    <dgm:pt modelId="{B36BB740-4646-42BC-BA32-060466ABB573}" type="pres">
      <dgm:prSet presAssocID="{F2F9447B-255D-4341-9BB8-56CE6101E67B}" presName="bgRect" presStyleLbl="bgShp" presStyleIdx="6" presStyleCnt="7"/>
      <dgm:spPr/>
    </dgm:pt>
    <dgm:pt modelId="{D364E714-FB7E-4ECC-B2C9-F3D286D0272D}" type="pres">
      <dgm:prSet presAssocID="{F2F9447B-255D-4341-9BB8-56CE6101E67B}" presName="iconRect" presStyleLbl="node1" presStyleIdx="6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bros"/>
        </a:ext>
      </dgm:extLst>
    </dgm:pt>
    <dgm:pt modelId="{2EBCB09C-0971-49D3-9973-3D9A904E0435}" type="pres">
      <dgm:prSet presAssocID="{F2F9447B-255D-4341-9BB8-56CE6101E67B}" presName="spaceRect" presStyleCnt="0"/>
      <dgm:spPr/>
    </dgm:pt>
    <dgm:pt modelId="{DFF81866-E397-422D-A1A5-60C763E97281}" type="pres">
      <dgm:prSet presAssocID="{F2F9447B-255D-4341-9BB8-56CE6101E67B}" presName="parTx" presStyleLbl="revTx" presStyleIdx="6" presStyleCnt="7">
        <dgm:presLayoutVars>
          <dgm:chMax val="0"/>
          <dgm:chPref val="0"/>
        </dgm:presLayoutVars>
      </dgm:prSet>
      <dgm:spPr/>
    </dgm:pt>
  </dgm:ptLst>
  <dgm:cxnLst>
    <dgm:cxn modelId="{8FFDFD26-5131-480D-8111-62F30DAAC178}" srcId="{C73AC2A8-430B-4FF1-ABE2-5966A93010C3}" destId="{64A3F17B-3B4E-41A7-B82E-E40D7B4A5BF9}" srcOrd="0" destOrd="0" parTransId="{CA30E3B4-C4A0-4D44-81CC-902AEEDF2620}" sibTransId="{49A2ACD9-A26C-4911-AC8F-79E9713BB7EE}"/>
    <dgm:cxn modelId="{FBC7A160-97AA-4410-97C3-B6E424109C16}" type="presOf" srcId="{CE4E30D0-4D0A-40F0-BD8A-10ADFDF6147F}" destId="{AD4BEFD8-1612-4855-A20D-40AE535A470B}" srcOrd="0" destOrd="0" presId="urn:microsoft.com/office/officeart/2018/2/layout/IconVerticalSolidList"/>
    <dgm:cxn modelId="{816A6A45-ADD9-471F-A59A-891618D402A0}" type="presOf" srcId="{D0DF1148-6DB0-47FE-8056-EE9DC45091DF}" destId="{F4F01FB8-B347-469C-A2EC-BC6219DAD1B7}" srcOrd="0" destOrd="0" presId="urn:microsoft.com/office/officeart/2018/2/layout/IconVerticalSolidList"/>
    <dgm:cxn modelId="{3B2B6849-7269-4BBD-AECB-2B06B037E9BB}" srcId="{C73AC2A8-430B-4FF1-ABE2-5966A93010C3}" destId="{3C72EB92-4875-4473-83F1-539CCAC6B706}" srcOrd="2" destOrd="0" parTransId="{7E6F173E-483D-4F79-AB5A-F6E0799FEB26}" sibTransId="{1995900F-21B0-4AC4-82C8-91255D1D6BD2}"/>
    <dgm:cxn modelId="{5E4ADB6A-8D05-4158-AD69-98C7345893C3}" srcId="{C73AC2A8-430B-4FF1-ABE2-5966A93010C3}" destId="{F2F9447B-255D-4341-9BB8-56CE6101E67B}" srcOrd="6" destOrd="0" parTransId="{4F9A4B02-2A74-4F45-89E6-08AD41EDA22B}" sibTransId="{1E677D54-8609-49EF-9BB5-F86FF3C43011}"/>
    <dgm:cxn modelId="{CAC7136B-6CD7-471A-9F34-1F834938BA3B}" type="presOf" srcId="{F2F9447B-255D-4341-9BB8-56CE6101E67B}" destId="{DFF81866-E397-422D-A1A5-60C763E97281}" srcOrd="0" destOrd="0" presId="urn:microsoft.com/office/officeart/2018/2/layout/IconVerticalSolidList"/>
    <dgm:cxn modelId="{995F3253-2D1A-43DF-B9A1-36D8A1860892}" type="presOf" srcId="{3C72EB92-4875-4473-83F1-539CCAC6B706}" destId="{FF20DA72-FA17-406E-BCDC-C0A408FB856A}" srcOrd="0" destOrd="0" presId="urn:microsoft.com/office/officeart/2018/2/layout/IconVerticalSolidList"/>
    <dgm:cxn modelId="{FB11F075-B61A-4131-999D-BD98388668B1}" type="presOf" srcId="{ED60E02B-EF18-4161-B5CE-AF53885A15D5}" destId="{6519E872-913B-400E-82A5-B58004BE12B4}" srcOrd="0" destOrd="0" presId="urn:microsoft.com/office/officeart/2018/2/layout/IconVerticalSolidList"/>
    <dgm:cxn modelId="{5D09B380-6D99-4192-B406-E827132F9DA0}" srcId="{C73AC2A8-430B-4FF1-ABE2-5966A93010C3}" destId="{3A1FF0FD-657C-4570-9B4F-A2CC96DE41A9}" srcOrd="1" destOrd="0" parTransId="{EBBDB9BC-1E4B-4D44-BE38-1AAD39B2029A}" sibTransId="{E08E8B37-DA18-4094-A9EC-535D536B3CD0}"/>
    <dgm:cxn modelId="{AC9C6F92-8429-43E0-BC3D-A5F02C7A9E39}" type="presOf" srcId="{64A3F17B-3B4E-41A7-B82E-E40D7B4A5BF9}" destId="{B85B9CF4-18CF-4F9F-8747-9B535D85074B}" srcOrd="0" destOrd="0" presId="urn:microsoft.com/office/officeart/2018/2/layout/IconVerticalSolidList"/>
    <dgm:cxn modelId="{B86ABABB-500B-428F-A752-EBC00BD5DBC9}" type="presOf" srcId="{C73AC2A8-430B-4FF1-ABE2-5966A93010C3}" destId="{6DF20D2E-2E9D-463A-97A9-4149782D3D51}" srcOrd="0" destOrd="0" presId="urn:microsoft.com/office/officeart/2018/2/layout/IconVerticalSolidList"/>
    <dgm:cxn modelId="{60A14CCE-EF7D-4612-B233-F70315891B09}" type="presOf" srcId="{3A1FF0FD-657C-4570-9B4F-A2CC96DE41A9}" destId="{E313052A-5916-4252-A9D9-3DB30844D8FA}" srcOrd="0" destOrd="0" presId="urn:microsoft.com/office/officeart/2018/2/layout/IconVerticalSolidList"/>
    <dgm:cxn modelId="{C46440EC-CC3C-4FE8-949E-BC18DC3098DA}" srcId="{C73AC2A8-430B-4FF1-ABE2-5966A93010C3}" destId="{CE4E30D0-4D0A-40F0-BD8A-10ADFDF6147F}" srcOrd="4" destOrd="0" parTransId="{AAF82A36-AC75-4AD3-A345-BEB2545C17DC}" sibTransId="{F5C21A98-2FC9-4AED-A91B-A3886EDDC7FD}"/>
    <dgm:cxn modelId="{BE6ACFF3-7EC3-45BC-AB01-134EAEE62719}" srcId="{C73AC2A8-430B-4FF1-ABE2-5966A93010C3}" destId="{ED60E02B-EF18-4161-B5CE-AF53885A15D5}" srcOrd="3" destOrd="0" parTransId="{EB9F7E7E-37A1-4E43-8DE5-750AC4B46E16}" sibTransId="{E8265D97-4D47-43EB-AC9B-A61053DD47C8}"/>
    <dgm:cxn modelId="{D87956F7-977D-4B3F-9BFA-53D61A24153A}" srcId="{C73AC2A8-430B-4FF1-ABE2-5966A93010C3}" destId="{D0DF1148-6DB0-47FE-8056-EE9DC45091DF}" srcOrd="5" destOrd="0" parTransId="{E0D8F532-1522-4C47-8E88-3538D5BFBFE3}" sibTransId="{A269ABB2-64BA-4795-8305-4E7082AC0027}"/>
    <dgm:cxn modelId="{97856D9B-E31E-4245-BA6C-8791095571E1}" type="presParOf" srcId="{6DF20D2E-2E9D-463A-97A9-4149782D3D51}" destId="{D1723AA6-5B39-4CEF-9955-F5AB78B28140}" srcOrd="0" destOrd="0" presId="urn:microsoft.com/office/officeart/2018/2/layout/IconVerticalSolidList"/>
    <dgm:cxn modelId="{94BE9C53-8EA0-4D31-A6FD-81E7CB302592}" type="presParOf" srcId="{D1723AA6-5B39-4CEF-9955-F5AB78B28140}" destId="{2B2DD89B-42B2-4014-9029-7CEAC35FB9B8}" srcOrd="0" destOrd="0" presId="urn:microsoft.com/office/officeart/2018/2/layout/IconVerticalSolidList"/>
    <dgm:cxn modelId="{2CA1868E-E469-46ED-9483-DA3513C68369}" type="presParOf" srcId="{D1723AA6-5B39-4CEF-9955-F5AB78B28140}" destId="{55B6B75F-70CF-453E-BC3B-BD313345C0D2}" srcOrd="1" destOrd="0" presId="urn:microsoft.com/office/officeart/2018/2/layout/IconVerticalSolidList"/>
    <dgm:cxn modelId="{F098A10F-E8BD-459E-934A-2E7F757A1E16}" type="presParOf" srcId="{D1723AA6-5B39-4CEF-9955-F5AB78B28140}" destId="{EF826F35-E2B9-4593-971F-2FFDD36298DE}" srcOrd="2" destOrd="0" presId="urn:microsoft.com/office/officeart/2018/2/layout/IconVerticalSolidList"/>
    <dgm:cxn modelId="{C70B7E59-6E71-43EE-8DF9-C088D5A8F885}" type="presParOf" srcId="{D1723AA6-5B39-4CEF-9955-F5AB78B28140}" destId="{B85B9CF4-18CF-4F9F-8747-9B535D85074B}" srcOrd="3" destOrd="0" presId="urn:microsoft.com/office/officeart/2018/2/layout/IconVerticalSolidList"/>
    <dgm:cxn modelId="{66C982CF-4613-4215-A62D-ABC35BDA5D48}" type="presParOf" srcId="{6DF20D2E-2E9D-463A-97A9-4149782D3D51}" destId="{4ABB2855-BADC-466D-B6FA-C621DDF6A2CB}" srcOrd="1" destOrd="0" presId="urn:microsoft.com/office/officeart/2018/2/layout/IconVerticalSolidList"/>
    <dgm:cxn modelId="{880D1048-33B5-483B-99F9-A53BDAE8E512}" type="presParOf" srcId="{6DF20D2E-2E9D-463A-97A9-4149782D3D51}" destId="{F6592426-FBF1-419F-AAB8-2B523E3D71D0}" srcOrd="2" destOrd="0" presId="urn:microsoft.com/office/officeart/2018/2/layout/IconVerticalSolidList"/>
    <dgm:cxn modelId="{D568F8C9-DD4E-4C54-A1FA-9254AB325D38}" type="presParOf" srcId="{F6592426-FBF1-419F-AAB8-2B523E3D71D0}" destId="{438CD36E-CED3-42D6-8DC2-5F39CC27F6A2}" srcOrd="0" destOrd="0" presId="urn:microsoft.com/office/officeart/2018/2/layout/IconVerticalSolidList"/>
    <dgm:cxn modelId="{21B62DA3-B15D-47DC-92E7-FF442B566425}" type="presParOf" srcId="{F6592426-FBF1-419F-AAB8-2B523E3D71D0}" destId="{63CB44D1-D39A-4D32-91FC-DD40C416BB80}" srcOrd="1" destOrd="0" presId="urn:microsoft.com/office/officeart/2018/2/layout/IconVerticalSolidList"/>
    <dgm:cxn modelId="{D2C21D65-DED3-435F-B35B-1E6A36E17FC2}" type="presParOf" srcId="{F6592426-FBF1-419F-AAB8-2B523E3D71D0}" destId="{2603E7B9-6B95-493B-8EA1-CD31974CFA19}" srcOrd="2" destOrd="0" presId="urn:microsoft.com/office/officeart/2018/2/layout/IconVerticalSolidList"/>
    <dgm:cxn modelId="{065D6A6D-6C4A-4AE5-B111-BACDFC29BC64}" type="presParOf" srcId="{F6592426-FBF1-419F-AAB8-2B523E3D71D0}" destId="{E313052A-5916-4252-A9D9-3DB30844D8FA}" srcOrd="3" destOrd="0" presId="urn:microsoft.com/office/officeart/2018/2/layout/IconVerticalSolidList"/>
    <dgm:cxn modelId="{ED44B125-BCE1-44B7-A334-09E60B533309}" type="presParOf" srcId="{6DF20D2E-2E9D-463A-97A9-4149782D3D51}" destId="{92B0AAE0-A41B-4D7E-84A3-40BD58004ED3}" srcOrd="3" destOrd="0" presId="urn:microsoft.com/office/officeart/2018/2/layout/IconVerticalSolidList"/>
    <dgm:cxn modelId="{E09F487A-5E4E-4763-A55D-CCBBE5B3B89E}" type="presParOf" srcId="{6DF20D2E-2E9D-463A-97A9-4149782D3D51}" destId="{E8F8FC3F-CD44-4230-9A92-0B901D0F4ED0}" srcOrd="4" destOrd="0" presId="urn:microsoft.com/office/officeart/2018/2/layout/IconVerticalSolidList"/>
    <dgm:cxn modelId="{1B59C4DA-833E-4BC1-A1FC-4113C480A5C9}" type="presParOf" srcId="{E8F8FC3F-CD44-4230-9A92-0B901D0F4ED0}" destId="{C66DBA6A-E385-40C4-883F-911D69AF02BC}" srcOrd="0" destOrd="0" presId="urn:microsoft.com/office/officeart/2018/2/layout/IconVerticalSolidList"/>
    <dgm:cxn modelId="{44BE0122-F950-4661-9E0D-530BEB649AFA}" type="presParOf" srcId="{E8F8FC3F-CD44-4230-9A92-0B901D0F4ED0}" destId="{F155E11E-AEF2-4A74-BA1D-3657768A2731}" srcOrd="1" destOrd="0" presId="urn:microsoft.com/office/officeart/2018/2/layout/IconVerticalSolidList"/>
    <dgm:cxn modelId="{9D9C1AA9-73DE-4438-9C1E-DA787AE35A3C}" type="presParOf" srcId="{E8F8FC3F-CD44-4230-9A92-0B901D0F4ED0}" destId="{8CDCF8A1-27E9-43E2-98B7-0099AD2215CA}" srcOrd="2" destOrd="0" presId="urn:microsoft.com/office/officeart/2018/2/layout/IconVerticalSolidList"/>
    <dgm:cxn modelId="{C981FB07-7700-4B58-90FF-E937F68F2651}" type="presParOf" srcId="{E8F8FC3F-CD44-4230-9A92-0B901D0F4ED0}" destId="{FF20DA72-FA17-406E-BCDC-C0A408FB856A}" srcOrd="3" destOrd="0" presId="urn:microsoft.com/office/officeart/2018/2/layout/IconVerticalSolidList"/>
    <dgm:cxn modelId="{D6BFCD6F-3700-4054-B394-AE13DF4CB416}" type="presParOf" srcId="{6DF20D2E-2E9D-463A-97A9-4149782D3D51}" destId="{C6EFC78A-10E0-422C-BE63-6533AC90CD0F}" srcOrd="5" destOrd="0" presId="urn:microsoft.com/office/officeart/2018/2/layout/IconVerticalSolidList"/>
    <dgm:cxn modelId="{B311BB3F-44D6-4B9C-A6E5-68A0758E88E3}" type="presParOf" srcId="{6DF20D2E-2E9D-463A-97A9-4149782D3D51}" destId="{D7F0A75D-6613-4077-A55D-984772E58AEA}" srcOrd="6" destOrd="0" presId="urn:microsoft.com/office/officeart/2018/2/layout/IconVerticalSolidList"/>
    <dgm:cxn modelId="{61BF2680-E71F-48DE-8838-D5A511806806}" type="presParOf" srcId="{D7F0A75D-6613-4077-A55D-984772E58AEA}" destId="{4F335D0B-F952-45AC-917B-62F0D4E21AEB}" srcOrd="0" destOrd="0" presId="urn:microsoft.com/office/officeart/2018/2/layout/IconVerticalSolidList"/>
    <dgm:cxn modelId="{F3EEDD6A-BCE9-43AC-BC83-48EAC797EA28}" type="presParOf" srcId="{D7F0A75D-6613-4077-A55D-984772E58AEA}" destId="{06DF695A-C4F4-438D-845A-5BEBCE1E7D95}" srcOrd="1" destOrd="0" presId="urn:microsoft.com/office/officeart/2018/2/layout/IconVerticalSolidList"/>
    <dgm:cxn modelId="{944AF739-3D76-4C8E-8678-9B51E204549E}" type="presParOf" srcId="{D7F0A75D-6613-4077-A55D-984772E58AEA}" destId="{E6E2CFD3-3FB3-481E-9121-B7DB8E23D4CE}" srcOrd="2" destOrd="0" presId="urn:microsoft.com/office/officeart/2018/2/layout/IconVerticalSolidList"/>
    <dgm:cxn modelId="{146CECBB-DC40-49DB-9455-17F832EDA83F}" type="presParOf" srcId="{D7F0A75D-6613-4077-A55D-984772E58AEA}" destId="{6519E872-913B-400E-82A5-B58004BE12B4}" srcOrd="3" destOrd="0" presId="urn:microsoft.com/office/officeart/2018/2/layout/IconVerticalSolidList"/>
    <dgm:cxn modelId="{DBF05EB3-4192-4411-90E4-7D5B1801EA4E}" type="presParOf" srcId="{6DF20D2E-2E9D-463A-97A9-4149782D3D51}" destId="{68E045BB-5D57-43B8-A841-B9CE6933867B}" srcOrd="7" destOrd="0" presId="urn:microsoft.com/office/officeart/2018/2/layout/IconVerticalSolidList"/>
    <dgm:cxn modelId="{D67074AB-E8EB-490A-8324-F0911286C2E6}" type="presParOf" srcId="{6DF20D2E-2E9D-463A-97A9-4149782D3D51}" destId="{C2AC8374-6951-4DFB-ACFC-9CEC529DFB7D}" srcOrd="8" destOrd="0" presId="urn:microsoft.com/office/officeart/2018/2/layout/IconVerticalSolidList"/>
    <dgm:cxn modelId="{C0ED4085-73F6-4CC5-B35A-8E90A9B18161}" type="presParOf" srcId="{C2AC8374-6951-4DFB-ACFC-9CEC529DFB7D}" destId="{305AEAA7-D59B-49B2-B36B-18D55C3E6A28}" srcOrd="0" destOrd="0" presId="urn:microsoft.com/office/officeart/2018/2/layout/IconVerticalSolidList"/>
    <dgm:cxn modelId="{A7FB76DE-2AA7-4E6F-B4C1-2B1603515BD9}" type="presParOf" srcId="{C2AC8374-6951-4DFB-ACFC-9CEC529DFB7D}" destId="{AEFFA1BF-493D-470F-A0CA-E62C74BC6DEA}" srcOrd="1" destOrd="0" presId="urn:microsoft.com/office/officeart/2018/2/layout/IconVerticalSolidList"/>
    <dgm:cxn modelId="{30B1A5C8-AFB5-48A8-9D00-CA7DCC7DEBA9}" type="presParOf" srcId="{C2AC8374-6951-4DFB-ACFC-9CEC529DFB7D}" destId="{75232854-C7EF-45B3-919D-25E858F44317}" srcOrd="2" destOrd="0" presId="urn:microsoft.com/office/officeart/2018/2/layout/IconVerticalSolidList"/>
    <dgm:cxn modelId="{0D7700FA-FFDA-466B-8540-73CBC90F47C6}" type="presParOf" srcId="{C2AC8374-6951-4DFB-ACFC-9CEC529DFB7D}" destId="{AD4BEFD8-1612-4855-A20D-40AE535A470B}" srcOrd="3" destOrd="0" presId="urn:microsoft.com/office/officeart/2018/2/layout/IconVerticalSolidList"/>
    <dgm:cxn modelId="{9F8E5F8D-CBBC-423A-A8F1-15204EAFDD07}" type="presParOf" srcId="{6DF20D2E-2E9D-463A-97A9-4149782D3D51}" destId="{4A75718C-CA52-4DA2-9843-0B2D13C0CC5B}" srcOrd="9" destOrd="0" presId="urn:microsoft.com/office/officeart/2018/2/layout/IconVerticalSolidList"/>
    <dgm:cxn modelId="{AFBF19B6-8D0A-458A-BF8E-D2EE49AE1941}" type="presParOf" srcId="{6DF20D2E-2E9D-463A-97A9-4149782D3D51}" destId="{EB8329EB-C71A-4A93-A22B-8E7FDD225E85}" srcOrd="10" destOrd="0" presId="urn:microsoft.com/office/officeart/2018/2/layout/IconVerticalSolidList"/>
    <dgm:cxn modelId="{3FC36004-9888-494A-84EB-16D49223AC86}" type="presParOf" srcId="{EB8329EB-C71A-4A93-A22B-8E7FDD225E85}" destId="{DBB5BEDD-4B17-4C31-9382-8C8363823A00}" srcOrd="0" destOrd="0" presId="urn:microsoft.com/office/officeart/2018/2/layout/IconVerticalSolidList"/>
    <dgm:cxn modelId="{F35C52DD-029A-48F3-98DB-B2BF179C890D}" type="presParOf" srcId="{EB8329EB-C71A-4A93-A22B-8E7FDD225E85}" destId="{A613A263-DD0B-43B8-A1F9-520BCC151AEC}" srcOrd="1" destOrd="0" presId="urn:microsoft.com/office/officeart/2018/2/layout/IconVerticalSolidList"/>
    <dgm:cxn modelId="{2A2988C9-85A1-4AD2-9281-3A2541168135}" type="presParOf" srcId="{EB8329EB-C71A-4A93-A22B-8E7FDD225E85}" destId="{05EF2BE3-575D-410A-84C3-1E333698D6BD}" srcOrd="2" destOrd="0" presId="urn:microsoft.com/office/officeart/2018/2/layout/IconVerticalSolidList"/>
    <dgm:cxn modelId="{367A12CD-41B8-4A8B-8BF3-20FCB565D980}" type="presParOf" srcId="{EB8329EB-C71A-4A93-A22B-8E7FDD225E85}" destId="{F4F01FB8-B347-469C-A2EC-BC6219DAD1B7}" srcOrd="3" destOrd="0" presId="urn:microsoft.com/office/officeart/2018/2/layout/IconVerticalSolidList"/>
    <dgm:cxn modelId="{60DB4E15-8CA0-44AC-9816-D05D752F26A4}" type="presParOf" srcId="{6DF20D2E-2E9D-463A-97A9-4149782D3D51}" destId="{5D60A3CA-678F-4365-95F0-012C90EC67E1}" srcOrd="11" destOrd="0" presId="urn:microsoft.com/office/officeart/2018/2/layout/IconVerticalSolidList"/>
    <dgm:cxn modelId="{98ABAA98-FAA3-4085-B4F5-3EDBF62DE83F}" type="presParOf" srcId="{6DF20D2E-2E9D-463A-97A9-4149782D3D51}" destId="{6531452A-D190-46A8-BED0-0918E4EBD5C8}" srcOrd="12" destOrd="0" presId="urn:microsoft.com/office/officeart/2018/2/layout/IconVerticalSolidList"/>
    <dgm:cxn modelId="{2E63075B-CE21-4A3C-A14C-0CF6C9AFD170}" type="presParOf" srcId="{6531452A-D190-46A8-BED0-0918E4EBD5C8}" destId="{B36BB740-4646-42BC-BA32-060466ABB573}" srcOrd="0" destOrd="0" presId="urn:microsoft.com/office/officeart/2018/2/layout/IconVerticalSolidList"/>
    <dgm:cxn modelId="{EE22F10D-C503-470E-8064-77B326AE21AE}" type="presParOf" srcId="{6531452A-D190-46A8-BED0-0918E4EBD5C8}" destId="{D364E714-FB7E-4ECC-B2C9-F3D286D0272D}" srcOrd="1" destOrd="0" presId="urn:microsoft.com/office/officeart/2018/2/layout/IconVerticalSolidList"/>
    <dgm:cxn modelId="{E1A86811-838C-4D30-820D-DD447AB95187}" type="presParOf" srcId="{6531452A-D190-46A8-BED0-0918E4EBD5C8}" destId="{2EBCB09C-0971-49D3-9973-3D9A904E0435}" srcOrd="2" destOrd="0" presId="urn:microsoft.com/office/officeart/2018/2/layout/IconVerticalSolidList"/>
    <dgm:cxn modelId="{8B7A7B75-D43B-4854-A5B8-1DD0BD7B9195}" type="presParOf" srcId="{6531452A-D190-46A8-BED0-0918E4EBD5C8}" destId="{DFF81866-E397-422D-A1A5-60C763E9728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2DD89B-42B2-4014-9029-7CEAC35FB9B8}">
      <dsp:nvSpPr>
        <dsp:cNvPr id="0" name=""/>
        <dsp:cNvSpPr/>
      </dsp:nvSpPr>
      <dsp:spPr>
        <a:xfrm>
          <a:off x="0" y="371"/>
          <a:ext cx="7886700" cy="511834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B6B75F-70CF-453E-BC3B-BD313345C0D2}">
      <dsp:nvSpPr>
        <dsp:cNvPr id="0" name=""/>
        <dsp:cNvSpPr/>
      </dsp:nvSpPr>
      <dsp:spPr>
        <a:xfrm>
          <a:off x="154829" y="115534"/>
          <a:ext cx="281509" cy="28150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5B9CF4-18CF-4F9F-8747-9B535D85074B}">
      <dsp:nvSpPr>
        <dsp:cNvPr id="0" name=""/>
        <dsp:cNvSpPr/>
      </dsp:nvSpPr>
      <dsp:spPr>
        <a:xfrm>
          <a:off x="591168" y="371"/>
          <a:ext cx="7295531" cy="511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4169" tIns="54169" rIns="54169" bIns="54169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1.  Introducción y Problemática</a:t>
          </a:r>
          <a:endParaRPr lang="en-US" sz="1600" kern="1200"/>
        </a:p>
      </dsp:txBody>
      <dsp:txXfrm>
        <a:off x="591168" y="371"/>
        <a:ext cx="7295531" cy="511834"/>
      </dsp:txXfrm>
    </dsp:sp>
    <dsp:sp modelId="{438CD36E-CED3-42D6-8DC2-5F39CC27F6A2}">
      <dsp:nvSpPr>
        <dsp:cNvPr id="0" name=""/>
        <dsp:cNvSpPr/>
      </dsp:nvSpPr>
      <dsp:spPr>
        <a:xfrm>
          <a:off x="0" y="640165"/>
          <a:ext cx="7886700" cy="511834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3CB44D1-D39A-4D32-91FC-DD40C416BB80}">
      <dsp:nvSpPr>
        <dsp:cNvPr id="0" name=""/>
        <dsp:cNvSpPr/>
      </dsp:nvSpPr>
      <dsp:spPr>
        <a:xfrm>
          <a:off x="154829" y="755327"/>
          <a:ext cx="281509" cy="28150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313052A-5916-4252-A9D9-3DB30844D8FA}">
      <dsp:nvSpPr>
        <dsp:cNvPr id="0" name=""/>
        <dsp:cNvSpPr/>
      </dsp:nvSpPr>
      <dsp:spPr>
        <a:xfrm>
          <a:off x="591168" y="640165"/>
          <a:ext cx="7295531" cy="511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4169" tIns="54169" rIns="54169" bIns="54169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2.  Discusión Bibliográfica</a:t>
          </a:r>
          <a:endParaRPr lang="en-US" sz="1600" kern="1200"/>
        </a:p>
      </dsp:txBody>
      <dsp:txXfrm>
        <a:off x="591168" y="640165"/>
        <a:ext cx="7295531" cy="511834"/>
      </dsp:txXfrm>
    </dsp:sp>
    <dsp:sp modelId="{C66DBA6A-E385-40C4-883F-911D69AF02BC}">
      <dsp:nvSpPr>
        <dsp:cNvPr id="0" name=""/>
        <dsp:cNvSpPr/>
      </dsp:nvSpPr>
      <dsp:spPr>
        <a:xfrm>
          <a:off x="0" y="1279958"/>
          <a:ext cx="7886700" cy="511834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155E11E-AEF2-4A74-BA1D-3657768A2731}">
      <dsp:nvSpPr>
        <dsp:cNvPr id="0" name=""/>
        <dsp:cNvSpPr/>
      </dsp:nvSpPr>
      <dsp:spPr>
        <a:xfrm>
          <a:off x="154829" y="1395121"/>
          <a:ext cx="281509" cy="28150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20DA72-FA17-406E-BCDC-C0A408FB856A}">
      <dsp:nvSpPr>
        <dsp:cNvPr id="0" name=""/>
        <dsp:cNvSpPr/>
      </dsp:nvSpPr>
      <dsp:spPr>
        <a:xfrm>
          <a:off x="591168" y="1279958"/>
          <a:ext cx="7295531" cy="511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4169" tIns="54169" rIns="54169" bIns="54169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3.  Objetivos</a:t>
          </a:r>
          <a:endParaRPr lang="en-US" sz="1600" kern="1200"/>
        </a:p>
      </dsp:txBody>
      <dsp:txXfrm>
        <a:off x="591168" y="1279958"/>
        <a:ext cx="7295531" cy="511834"/>
      </dsp:txXfrm>
    </dsp:sp>
    <dsp:sp modelId="{4F335D0B-F952-45AC-917B-62F0D4E21AEB}">
      <dsp:nvSpPr>
        <dsp:cNvPr id="0" name=""/>
        <dsp:cNvSpPr/>
      </dsp:nvSpPr>
      <dsp:spPr>
        <a:xfrm>
          <a:off x="0" y="1919751"/>
          <a:ext cx="7886700" cy="511834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6DF695A-C4F4-438D-845A-5BEBCE1E7D95}">
      <dsp:nvSpPr>
        <dsp:cNvPr id="0" name=""/>
        <dsp:cNvSpPr/>
      </dsp:nvSpPr>
      <dsp:spPr>
        <a:xfrm>
          <a:off x="154829" y="2034914"/>
          <a:ext cx="281509" cy="28150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19E872-913B-400E-82A5-B58004BE12B4}">
      <dsp:nvSpPr>
        <dsp:cNvPr id="0" name=""/>
        <dsp:cNvSpPr/>
      </dsp:nvSpPr>
      <dsp:spPr>
        <a:xfrm>
          <a:off x="591168" y="1919751"/>
          <a:ext cx="7295531" cy="511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4169" tIns="54169" rIns="54169" bIns="54169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4.  Metodología</a:t>
          </a:r>
          <a:endParaRPr lang="en-US" sz="1600" kern="1200"/>
        </a:p>
      </dsp:txBody>
      <dsp:txXfrm>
        <a:off x="591168" y="1919751"/>
        <a:ext cx="7295531" cy="511834"/>
      </dsp:txXfrm>
    </dsp:sp>
    <dsp:sp modelId="{305AEAA7-D59B-49B2-B36B-18D55C3E6A28}">
      <dsp:nvSpPr>
        <dsp:cNvPr id="0" name=""/>
        <dsp:cNvSpPr/>
      </dsp:nvSpPr>
      <dsp:spPr>
        <a:xfrm>
          <a:off x="0" y="2559544"/>
          <a:ext cx="7886700" cy="511834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EFFA1BF-493D-470F-A0CA-E62C74BC6DEA}">
      <dsp:nvSpPr>
        <dsp:cNvPr id="0" name=""/>
        <dsp:cNvSpPr/>
      </dsp:nvSpPr>
      <dsp:spPr>
        <a:xfrm>
          <a:off x="154829" y="2674707"/>
          <a:ext cx="281509" cy="28150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D4BEFD8-1612-4855-A20D-40AE535A470B}">
      <dsp:nvSpPr>
        <dsp:cNvPr id="0" name=""/>
        <dsp:cNvSpPr/>
      </dsp:nvSpPr>
      <dsp:spPr>
        <a:xfrm>
          <a:off x="591168" y="2559544"/>
          <a:ext cx="7295531" cy="511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4169" tIns="54169" rIns="54169" bIns="54169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5.  Resultados</a:t>
          </a:r>
          <a:endParaRPr lang="en-US" sz="1600" kern="1200"/>
        </a:p>
      </dsp:txBody>
      <dsp:txXfrm>
        <a:off x="591168" y="2559544"/>
        <a:ext cx="7295531" cy="511834"/>
      </dsp:txXfrm>
    </dsp:sp>
    <dsp:sp modelId="{DBB5BEDD-4B17-4C31-9382-8C8363823A00}">
      <dsp:nvSpPr>
        <dsp:cNvPr id="0" name=""/>
        <dsp:cNvSpPr/>
      </dsp:nvSpPr>
      <dsp:spPr>
        <a:xfrm>
          <a:off x="0" y="3199338"/>
          <a:ext cx="7886700" cy="511834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13A263-DD0B-43B8-A1F9-520BCC151AEC}">
      <dsp:nvSpPr>
        <dsp:cNvPr id="0" name=""/>
        <dsp:cNvSpPr/>
      </dsp:nvSpPr>
      <dsp:spPr>
        <a:xfrm>
          <a:off x="154829" y="3314501"/>
          <a:ext cx="281509" cy="28150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F01FB8-B347-469C-A2EC-BC6219DAD1B7}">
      <dsp:nvSpPr>
        <dsp:cNvPr id="0" name=""/>
        <dsp:cNvSpPr/>
      </dsp:nvSpPr>
      <dsp:spPr>
        <a:xfrm>
          <a:off x="591168" y="3199338"/>
          <a:ext cx="7295531" cy="511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4169" tIns="54169" rIns="54169" bIns="54169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6.  Conclusiones</a:t>
          </a:r>
          <a:endParaRPr lang="en-US" sz="1600" kern="1200"/>
        </a:p>
      </dsp:txBody>
      <dsp:txXfrm>
        <a:off x="591168" y="3199338"/>
        <a:ext cx="7295531" cy="511834"/>
      </dsp:txXfrm>
    </dsp:sp>
    <dsp:sp modelId="{B36BB740-4646-42BC-BA32-060466ABB573}">
      <dsp:nvSpPr>
        <dsp:cNvPr id="0" name=""/>
        <dsp:cNvSpPr/>
      </dsp:nvSpPr>
      <dsp:spPr>
        <a:xfrm>
          <a:off x="0" y="3839131"/>
          <a:ext cx="7886700" cy="511834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364E714-FB7E-4ECC-B2C9-F3D286D0272D}">
      <dsp:nvSpPr>
        <dsp:cNvPr id="0" name=""/>
        <dsp:cNvSpPr/>
      </dsp:nvSpPr>
      <dsp:spPr>
        <a:xfrm>
          <a:off x="154829" y="3954294"/>
          <a:ext cx="281509" cy="28150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F81866-E397-422D-A1A5-60C763E97281}">
      <dsp:nvSpPr>
        <dsp:cNvPr id="0" name=""/>
        <dsp:cNvSpPr/>
      </dsp:nvSpPr>
      <dsp:spPr>
        <a:xfrm>
          <a:off x="591168" y="3839131"/>
          <a:ext cx="7295531" cy="511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4169" tIns="54169" rIns="54169" bIns="54169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7.  Bibliografía</a:t>
          </a:r>
          <a:endParaRPr lang="en-US" sz="1600" kern="1200"/>
        </a:p>
      </dsp:txBody>
      <dsp:txXfrm>
        <a:off x="591168" y="3839131"/>
        <a:ext cx="7295531" cy="51183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347D60-E39B-E041-B6CE-3FDC1A8BB989}" type="datetimeFigureOut">
              <a:rPr lang="es-ES_tradnl" smtClean="0"/>
              <a:pPr/>
              <a:t>02/07/2026</a:t>
            </a:fld>
            <a:endParaRPr lang="es-ES_tradn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_tradn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AD1966-643A-ED45-BFF9-B0FE18A32E2B}" type="slidenum">
              <a:rPr lang="es-ES_tradnl" smtClean="0"/>
              <a:pPr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9633012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D1966-643A-ED45-BFF9-B0FE18A32E2B}" type="slidenum">
              <a:rPr lang="es-ES_tradnl" smtClean="0"/>
              <a:pPr/>
              <a:t>12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6424426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_tradnl"/>
              <a:t>Clic para editar título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_tradnl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68A57-AEEC-4464-B3C2-DCDD7625AB8D}" type="datetime1">
              <a:rPr lang="es-ES_tradnl" smtClean="0"/>
              <a:pPr/>
              <a:t>02/07/2026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2F6F5-E16D-F340-A90C-ABCF032D59B6}" type="slidenum">
              <a:rPr lang="es-ES_tradnl" smtClean="0"/>
              <a:pPr/>
              <a:t>‹Nº›</a:t>
            </a:fld>
            <a:endParaRPr lang="es-ES_tradnl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DCCD4-780C-41DF-BF06-777173EFDEEB}" type="datetime1">
              <a:rPr lang="es-ES_tradnl" smtClean="0"/>
              <a:pPr/>
              <a:t>02/07/2026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2F6F5-E16D-F340-A90C-ABCF032D59B6}" type="slidenum">
              <a:rPr lang="es-ES_tradnl" smtClean="0"/>
              <a:pPr/>
              <a:t>‹Nº›</a:t>
            </a:fld>
            <a:endParaRPr lang="es-ES_tradnl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_tradnl"/>
              <a:t>Clic para editar título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8BDFF-D5A3-46B1-98F2-1BB257860C91}" type="datetime1">
              <a:rPr lang="es-ES_tradnl" smtClean="0"/>
              <a:pPr/>
              <a:t>02/07/2026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2F6F5-E16D-F340-A90C-ABCF032D59B6}" type="slidenum">
              <a:rPr lang="es-ES_tradnl" smtClean="0"/>
              <a:pPr/>
              <a:t>‹Nº›</a:t>
            </a:fld>
            <a:endParaRPr lang="es-ES_tradnl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BEF73-6D63-4ED7-A166-942711098C6B}" type="datetime1">
              <a:rPr lang="es-ES_tradnl" smtClean="0"/>
              <a:pPr/>
              <a:t>02/07/2026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2F6F5-E16D-F340-A90C-ABCF032D59B6}" type="slidenum">
              <a:rPr lang="es-ES_tradnl" smtClean="0"/>
              <a:pPr/>
              <a:t>‹Nº›</a:t>
            </a:fld>
            <a:endParaRPr lang="es-ES_tradnl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537EE-D15B-4E6F-B388-F44B9769E122}" type="datetime1">
              <a:rPr lang="es-ES_tradnl" smtClean="0"/>
              <a:pPr/>
              <a:t>02/07/2026</a:t>
            </a:fld>
            <a:endParaRPr lang="es-ES_trad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2F6F5-E16D-F340-A90C-ABCF032D59B6}" type="slidenum">
              <a:rPr lang="es-ES_tradnl" smtClean="0"/>
              <a:pPr/>
              <a:t>‹Nº›</a:t>
            </a:fld>
            <a:endParaRPr lang="es-ES_tradnl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189503-558A-4680-A00C-D1B9C07BADB8}" type="datetime1">
              <a:rPr lang="es-ES_tradnl" smtClean="0"/>
              <a:pPr/>
              <a:t>02/07/2026</a:t>
            </a:fld>
            <a:endParaRPr lang="es-ES_trad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2F6F5-E16D-F340-A90C-ABCF032D59B6}" type="slidenum">
              <a:rPr lang="es-ES_tradnl" smtClean="0"/>
              <a:pPr/>
              <a:t>‹Nº›</a:t>
            </a:fld>
            <a:endParaRPr lang="es-ES_tradnl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9CC10B-C27E-462F-BCC1-B5EBAA7D286E}" type="datetime1">
              <a:rPr lang="es-ES_tradnl" smtClean="0"/>
              <a:pPr/>
              <a:t>02/07/2026</a:t>
            </a:fld>
            <a:endParaRPr lang="es-ES_trad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2F6F5-E16D-F340-A90C-ABCF032D59B6}" type="slidenum">
              <a:rPr lang="es-ES_tradnl" smtClean="0"/>
              <a:pPr/>
              <a:t>‹Nº›</a:t>
            </a:fld>
            <a:endParaRPr lang="es-ES_tradnl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_tradnl"/>
              <a:t>Clic para editar título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30DD6-8507-468F-A93F-66BD6B9C72D1}" type="datetime1">
              <a:rPr lang="es-ES_tradnl" smtClean="0"/>
              <a:pPr/>
              <a:t>02/07/2026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2F6F5-E16D-F340-A90C-ABCF032D59B6}" type="slidenum">
              <a:rPr lang="es-ES_tradnl" smtClean="0"/>
              <a:pPr/>
              <a:t>‹Nº›</a:t>
            </a:fld>
            <a:endParaRPr lang="es-ES_tradnl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_tradnl"/>
              <a:t>Clic para editar título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_tradnl"/>
              <a:t>Arrastre la imagen al marcador de posición o haga clic en el icono para agregarla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0C4F6-18CC-4785-B351-29A3169A06D8}" type="datetime1">
              <a:rPr lang="es-ES_tradnl" smtClean="0"/>
              <a:pPr/>
              <a:t>02/07/2026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2F6F5-E16D-F340-A90C-ABCF032D59B6}" type="slidenum">
              <a:rPr lang="es-ES_tradnl" smtClean="0"/>
              <a:pPr/>
              <a:t>‹Nº›</a:t>
            </a:fld>
            <a:endParaRPr lang="es-ES_tradnl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02C51-CCE5-4E4E-B562-15682A15C3DF}" type="datetime1">
              <a:rPr lang="es-ES_tradnl" smtClean="0"/>
              <a:pPr/>
              <a:t>02/07/2026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2F6F5-E16D-F340-A90C-ABCF032D59B6}" type="slidenum">
              <a:rPr lang="es-ES_tradnl" smtClean="0"/>
              <a:pPr/>
              <a:t>‹Nº›</a:t>
            </a:fld>
            <a:endParaRPr lang="es-ES_tradnl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BF483-CE49-4C44-B4E1-6372F2D08A04}" type="datetime1">
              <a:rPr lang="es-ES_tradnl" smtClean="0"/>
              <a:pPr/>
              <a:t>02/07/2026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2F6F5-E16D-F340-A90C-ABCF032D59B6}" type="slidenum">
              <a:rPr lang="es-ES_tradnl" smtClean="0"/>
              <a:pPr/>
              <a:t>‹Nº›</a:t>
            </a:fld>
            <a:endParaRPr lang="es-ES_tradnl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6 Imagen"/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53" t="20538" r="153" b="51651"/>
          <a:stretch/>
        </p:blipFill>
        <p:spPr>
          <a:xfrm>
            <a:off x="-28026" y="0"/>
            <a:ext cx="9172026" cy="802886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02288"/>
            <a:ext cx="7886700" cy="6181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_tradnl"/>
              <a:t>Clic para editar título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F7DF9B-7D3C-4A6D-9986-08978C4D1418}" type="datetime1">
              <a:rPr lang="es-ES_tradnl" smtClean="0"/>
              <a:pPr/>
              <a:t>02/07/2026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52F6F5-E16D-F340-A90C-ABCF032D59B6}" type="slidenum">
              <a:rPr lang="es-ES_tradnl" smtClean="0"/>
              <a:pPr/>
              <a:t>‹Nº›</a:t>
            </a:fld>
            <a:endParaRPr lang="es-ES_tradnl"/>
          </a:p>
        </p:txBody>
      </p:sp>
      <p:pic>
        <p:nvPicPr>
          <p:cNvPr id="8" name="7 Imagen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2011" y="89552"/>
            <a:ext cx="719254" cy="600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4293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cto 5"/>
          <p:cNvCxnSpPr>
            <a:cxnSpLocks/>
          </p:cNvCxnSpPr>
          <p:nvPr/>
        </p:nvCxnSpPr>
        <p:spPr>
          <a:xfrm>
            <a:off x="492141" y="3591697"/>
            <a:ext cx="8156559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/>
          <p:cNvCxnSpPr/>
          <p:nvPr/>
        </p:nvCxnSpPr>
        <p:spPr>
          <a:xfrm flipH="1">
            <a:off x="2186081" y="2158313"/>
            <a:ext cx="1" cy="127315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/>
          <p:cNvSpPr txBox="1"/>
          <p:nvPr/>
        </p:nvSpPr>
        <p:spPr>
          <a:xfrm>
            <a:off x="2421925" y="2108030"/>
            <a:ext cx="6093425" cy="8463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3200" b="1" dirty="0">
                <a:solidFill>
                  <a:schemeClr val="bg1"/>
                </a:solidFill>
                <a:latin typeface="Arial"/>
              </a:rPr>
              <a:t>Plataforma Web </a:t>
            </a:r>
            <a:r>
              <a:rPr sz="3200" b="1" dirty="0" err="1">
                <a:solidFill>
                  <a:schemeClr val="bg1"/>
                </a:solidFill>
                <a:latin typeface="Arial"/>
              </a:rPr>
              <a:t>CuidaMayor</a:t>
            </a:r>
            <a:endParaRPr sz="3200" b="1" dirty="0">
              <a:solidFill>
                <a:schemeClr val="bg1"/>
              </a:solidFill>
              <a:latin typeface="Arial"/>
            </a:endParaRPr>
          </a:p>
          <a:p>
            <a:r>
              <a:rPr sz="1700" b="0" dirty="0" err="1">
                <a:solidFill>
                  <a:schemeClr val="bg1"/>
                </a:solidFill>
                <a:latin typeface="Arial"/>
              </a:rPr>
              <a:t>Apoyo</a:t>
            </a:r>
            <a:r>
              <a:rPr sz="1700" b="0" dirty="0">
                <a:solidFill>
                  <a:schemeClr val="bg1"/>
                </a:solidFill>
                <a:latin typeface="Arial"/>
              </a:rPr>
              <a:t> al </a:t>
            </a:r>
            <a:r>
              <a:rPr sz="1700" b="0" dirty="0" err="1">
                <a:solidFill>
                  <a:schemeClr val="bg1"/>
                </a:solidFill>
                <a:latin typeface="Arial"/>
              </a:rPr>
              <a:t>cuidado</a:t>
            </a:r>
            <a:r>
              <a:rPr sz="1700" b="0" dirty="0">
                <a:solidFill>
                  <a:schemeClr val="bg1"/>
                </a:solidFill>
                <a:latin typeface="Arial"/>
              </a:rPr>
              <a:t> de </a:t>
            </a:r>
            <a:r>
              <a:rPr sz="1700" b="0" dirty="0" err="1">
                <a:solidFill>
                  <a:schemeClr val="bg1"/>
                </a:solidFill>
                <a:latin typeface="Arial"/>
              </a:rPr>
              <a:t>adultos</a:t>
            </a:r>
            <a:r>
              <a:rPr sz="1700" b="0" dirty="0">
                <a:solidFill>
                  <a:schemeClr val="bg1"/>
                </a:solidFill>
                <a:latin typeface="Arial"/>
              </a:rPr>
              <a:t> </a:t>
            </a:r>
            <a:r>
              <a:rPr sz="1700" b="0" dirty="0" err="1">
                <a:solidFill>
                  <a:schemeClr val="bg1"/>
                </a:solidFill>
                <a:latin typeface="Arial"/>
              </a:rPr>
              <a:t>mayores</a:t>
            </a:r>
            <a:r>
              <a:rPr sz="1700" b="0" dirty="0">
                <a:solidFill>
                  <a:schemeClr val="bg1"/>
                </a:solidFill>
                <a:latin typeface="Arial"/>
              </a:rPr>
              <a:t> con </a:t>
            </a:r>
            <a:r>
              <a:rPr sz="1700" b="0" dirty="0" err="1">
                <a:solidFill>
                  <a:schemeClr val="bg1"/>
                </a:solidFill>
                <a:latin typeface="Arial"/>
              </a:rPr>
              <a:t>deterioro</a:t>
            </a:r>
            <a:r>
              <a:rPr sz="1700" b="0" dirty="0">
                <a:solidFill>
                  <a:schemeClr val="bg1"/>
                </a:solidFill>
                <a:latin typeface="Arial"/>
              </a:rPr>
              <a:t> </a:t>
            </a:r>
            <a:r>
              <a:rPr sz="1700" b="0" dirty="0" err="1">
                <a:solidFill>
                  <a:schemeClr val="bg1"/>
                </a:solidFill>
                <a:latin typeface="Arial"/>
              </a:rPr>
              <a:t>cognitivo</a:t>
            </a:r>
            <a:endParaRPr sz="1700" b="0" dirty="0">
              <a:solidFill>
                <a:schemeClr val="bg1"/>
              </a:solidFill>
              <a:latin typeface="Arial"/>
            </a:endParaRPr>
          </a:p>
        </p:txBody>
      </p:sp>
      <p:sp>
        <p:nvSpPr>
          <p:cNvPr id="13" name="CuadroTexto 12"/>
          <p:cNvSpPr txBox="1"/>
          <p:nvPr/>
        </p:nvSpPr>
        <p:spPr>
          <a:xfrm>
            <a:off x="492140" y="3722684"/>
            <a:ext cx="39655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Facultad de Ingeniería</a:t>
            </a:r>
          </a:p>
          <a:p>
            <a:r>
              <a:rPr lang="es-ES_tradnl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Ingeniería Civil Informática</a:t>
            </a:r>
          </a:p>
        </p:txBody>
      </p:sp>
      <p:sp>
        <p:nvSpPr>
          <p:cNvPr id="14" name="CuadroTexto 13"/>
          <p:cNvSpPr txBox="1"/>
          <p:nvPr/>
        </p:nvSpPr>
        <p:spPr>
          <a:xfrm>
            <a:off x="5359400" y="3722684"/>
            <a:ext cx="328929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rial"/>
              </a:rPr>
              <a:t>Integrante:</a:t>
            </a:r>
          </a:p>
          <a:p>
            <a:r>
              <a:rPr sz="1400">
                <a:solidFill>
                  <a:srgbClr val="FFFFFF"/>
                </a:solidFill>
                <a:latin typeface="Arial"/>
              </a:rPr>
              <a:t>Diego Benjamín Muñoz Zapata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FFFFFF"/>
                </a:solidFill>
                <a:latin typeface="Arial"/>
              </a:rPr>
              <a:t>Profesor guía:</a:t>
            </a:r>
          </a:p>
          <a:p>
            <a:r>
              <a:rPr sz="1400">
                <a:solidFill>
                  <a:srgbClr val="FFFFFF"/>
                </a:solidFill>
                <a:latin typeface="Arial"/>
              </a:rPr>
              <a:t>Pablo Schwarzenberg</a:t>
            </a:r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505" b="24764"/>
          <a:stretch/>
        </p:blipFill>
        <p:spPr>
          <a:xfrm>
            <a:off x="-14013" y="-41564"/>
            <a:ext cx="9172026" cy="1435697"/>
          </a:xfrm>
          <a:prstGeom prst="rect">
            <a:avLst/>
          </a:prstGeom>
        </p:spPr>
      </p:pic>
      <p:pic>
        <p:nvPicPr>
          <p:cNvPr id="15" name="Imagen 1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53" t="46510" r="153" b="5990"/>
          <a:stretch/>
        </p:blipFill>
        <p:spPr>
          <a:xfrm>
            <a:off x="-14013" y="5486719"/>
            <a:ext cx="9172026" cy="1371281"/>
          </a:xfrm>
          <a:prstGeom prst="rect">
            <a:avLst/>
          </a:prstGeom>
        </p:spPr>
      </p:pic>
      <p:pic>
        <p:nvPicPr>
          <p:cNvPr id="17" name="Imagen 1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349" y="2158313"/>
            <a:ext cx="1279083" cy="1189591"/>
          </a:xfrm>
          <a:prstGeom prst="rect">
            <a:avLst/>
          </a:prstGeom>
        </p:spPr>
      </p:pic>
      <p:sp>
        <p:nvSpPr>
          <p:cNvPr id="12" name="11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2F6F5-E16D-F340-A90C-ABCF032D59B6}" type="slidenum">
              <a:rPr lang="es-ES_tradnl" smtClean="0"/>
              <a:pPr/>
              <a:t>1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7370380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E91CC7FD-5108-1453-7787-110F667EC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02288"/>
            <a:ext cx="7886700" cy="618167"/>
          </a:xfrm>
        </p:spPr>
        <p:txBody>
          <a:bodyPr anchor="ctr">
            <a:normAutofit/>
          </a:bodyPr>
          <a:lstStyle/>
          <a:p>
            <a:r>
              <a:rPr lang="es-ES" sz="3700"/>
              <a:t>Contenidos</a:t>
            </a:r>
            <a:endParaRPr lang="es-CL" sz="3700"/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DA0CF154-C174-95DA-EF3F-D74DF602A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3352F6F5-E16D-F340-A90C-ABCF032D59B6}" type="slidenum">
              <a:rPr lang="es-ES_tradnl" smtClean="0"/>
              <a:pPr>
                <a:spcAft>
                  <a:spcPts val="600"/>
                </a:spcAft>
              </a:pPr>
              <a:t>2</a:t>
            </a:fld>
            <a:endParaRPr lang="es-ES_tradnl"/>
          </a:p>
        </p:txBody>
      </p:sp>
      <p:graphicFrame>
        <p:nvGraphicFramePr>
          <p:cNvPr id="8" name="Marcador de contenido 3">
            <a:extLst>
              <a:ext uri="{FF2B5EF4-FFF2-40B4-BE49-F238E27FC236}">
                <a16:creationId xmlns:a16="http://schemas.microsoft.com/office/drawing/2014/main" id="{84013581-D1F1-4E24-FCF6-868A50D446F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91410647"/>
              </p:ext>
            </p:extLst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258366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02288"/>
            <a:ext cx="7886700" cy="618167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CL" sz="3700" b="1"/>
              <a:t>Contexto y problemática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4851" y="1028478"/>
            <a:ext cx="4170077" cy="51030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envejecimiento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poblacional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es uno de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los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fenómenos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demográficos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clave del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siglo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XXI</a:t>
            </a:r>
          </a:p>
          <a:p>
            <a:pPr lvl="1"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</a:pP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Entre 2020 y 2050 la población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mundial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mayor de 60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años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pasará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del 12 % al 22 % (OMS, 2023)</a:t>
            </a:r>
          </a:p>
          <a:p>
            <a:pPr lvl="1"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</a:pP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El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deterioro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cognitivo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 la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demencia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afectan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 memoria, la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orientación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 la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autonomía</a:t>
            </a:r>
            <a:endParaRPr lang="en-US" sz="14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</a:pP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Dificultan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tareas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cotidianas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tomar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los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medicamentos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tiempo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seguir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rutina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diaria</a:t>
            </a:r>
            <a:endParaRPr lang="en-US" sz="14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Ello genera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una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carga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creciente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sobre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las personas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cuidadoras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 la red familiar de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apoyo</a:t>
            </a:r>
            <a:endParaRPr lang="en-US" sz="14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brecha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tecnológica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85800" lvl="2" indent="-228600"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Muchas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apps no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consideran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las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limitaciones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perceptuales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motrices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cognitivas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la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edad</a:t>
            </a:r>
            <a:endParaRPr lang="en-US" sz="14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85800" lvl="2" indent="-228600"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Tampoco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distinguen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los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actores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del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cuidado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paciente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cuidador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familia)</a:t>
            </a:r>
          </a:p>
          <a:p>
            <a:pPr marL="685800" lvl="2" indent="-228600"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Resultan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poco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accesibles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y,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práctica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no se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usan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por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público</a:t>
            </a: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objetivo</a:t>
            </a:r>
            <a:endParaRPr lang="en-US" sz="14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1" indent="-228600"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28600" lvl="1" indent="-228600"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400" b="0" dirty="0"/>
          </a:p>
          <a:p>
            <a:pPr marL="228600" lvl="1" indent="-228600"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400" b="0" dirty="0"/>
          </a:p>
        </p:txBody>
      </p:sp>
      <p:pic>
        <p:nvPicPr>
          <p:cNvPr id="4" name="Imagen 3" descr="Reserva cognitiva: un factor protector del deterioro cognitivo en adultos  mayores. - NetMD | Hub de salud independiente - Producción y difusión de  conocimiento">
            <a:extLst>
              <a:ext uri="{FF2B5EF4-FFF2-40B4-BE49-F238E27FC236}">
                <a16:creationId xmlns:a16="http://schemas.microsoft.com/office/drawing/2014/main" id="{2056E481-938A-F990-606C-DC6DAFB915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931" r="24182" b="2"/>
          <a:stretch>
            <a:fillRect/>
          </a:stretch>
        </p:blipFill>
        <p:spPr>
          <a:xfrm>
            <a:off x="4749073" y="1585782"/>
            <a:ext cx="3886200" cy="4351338"/>
          </a:xfrm>
          <a:prstGeom prst="rect">
            <a:avLst/>
          </a:prstGeom>
          <a:noFill/>
        </p:spPr>
      </p:pic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FACE56B7-29D8-2908-3653-F8FC64029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3352F6F5-E16D-F340-A90C-ABCF032D59B6}" type="slidenum">
              <a:rPr lang="es-ES_tradnl" smtClean="0"/>
              <a:pPr>
                <a:spcAft>
                  <a:spcPts val="600"/>
                </a:spcAft>
              </a:pPr>
              <a:t>3</a:t>
            </a:fld>
            <a:endParaRPr lang="es-ES_tradnl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 dirty="0">
                <a:solidFill>
                  <a:srgbClr val="FFFFFF"/>
                </a:solidFill>
                <a:latin typeface="Arial"/>
              </a:rPr>
              <a:t>La </a:t>
            </a:r>
            <a:r>
              <a:rPr sz="3000" b="1" dirty="0" err="1">
                <a:solidFill>
                  <a:srgbClr val="FFFFFF"/>
                </a:solidFill>
                <a:latin typeface="Arial"/>
              </a:rPr>
              <a:t>propuesta</a:t>
            </a:r>
            <a:r>
              <a:rPr sz="3000" b="1" dirty="0">
                <a:solidFill>
                  <a:srgbClr val="FFFFFF"/>
                </a:solidFill>
                <a:latin typeface="Arial"/>
              </a:rPr>
              <a:t>: </a:t>
            </a:r>
            <a:r>
              <a:rPr sz="3000" b="1" dirty="0" err="1">
                <a:solidFill>
                  <a:srgbClr val="FFFFFF"/>
                </a:solidFill>
                <a:latin typeface="Arial"/>
              </a:rPr>
              <a:t>CuidaMayor</a:t>
            </a:r>
            <a:endParaRPr sz="3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63758" y="1181557"/>
            <a:ext cx="4108242" cy="449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05000"/>
              </a:lnSpc>
              <a:spcBef>
                <a:spcPts val="400"/>
              </a:spcBef>
              <a:spcAft>
                <a:spcPts val="600"/>
              </a:spcAft>
            </a:pPr>
            <a:r>
              <a:rPr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Plataforma web full-stack </a:t>
            </a:r>
            <a:r>
              <a:rPr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pensada</a:t>
            </a:r>
            <a:r>
              <a:rPr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desde</a:t>
            </a:r>
            <a:r>
              <a:rPr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 </a:t>
            </a:r>
            <a:r>
              <a:rPr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accesibilidad</a:t>
            </a:r>
            <a:r>
              <a:rPr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 WCAG)</a:t>
            </a:r>
          </a:p>
          <a:p>
            <a:pPr algn="just">
              <a:lnSpc>
                <a:spcPct val="105000"/>
              </a:lnSpc>
              <a:spcAft>
                <a:spcPts val="600"/>
              </a:spcAft>
            </a:pP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Gestión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medicamentos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registro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sus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tomas</a:t>
            </a:r>
            <a:endParaRPr sz="1800" b="0" dirty="0">
              <a:solidFill>
                <a:srgbClr val="22222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05000"/>
              </a:lnSpc>
              <a:spcAft>
                <a:spcPts val="600"/>
              </a:spcAft>
            </a:pP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 Agenda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diaria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actividades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la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rutina</a:t>
            </a:r>
            <a:endParaRPr sz="1800" b="0" dirty="0">
              <a:solidFill>
                <a:srgbClr val="22222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05000"/>
              </a:lnSpc>
              <a:spcAft>
                <a:spcPts val="600"/>
              </a:spcAft>
            </a:pP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Botón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SOS </a:t>
            </a:r>
            <a:r>
              <a:rPr lang="es-CL"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Necesito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ayuda</a:t>
            </a:r>
            <a:r>
              <a:rPr lang="es-CL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para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emitir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atender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alertas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auxilio</a:t>
            </a:r>
            <a:endParaRPr sz="1800" b="0" dirty="0">
              <a:solidFill>
                <a:srgbClr val="22222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05000"/>
              </a:lnSpc>
              <a:spcAft>
                <a:spcPts val="600"/>
              </a:spcAft>
            </a:pP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 Juego de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estimulación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cognitiva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Memorice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con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seguimiento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del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progreso</a:t>
            </a:r>
            <a:endParaRPr sz="1800" b="0" dirty="0">
              <a:solidFill>
                <a:srgbClr val="22222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05000"/>
              </a:lnSpc>
              <a:spcAft>
                <a:spcPts val="600"/>
              </a:spcAft>
            </a:pP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Recordatorios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tomas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actividades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para el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paciente</a:t>
            </a:r>
            <a:endParaRPr sz="1800" b="0" dirty="0">
              <a:solidFill>
                <a:srgbClr val="22222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05000"/>
              </a:lnSpc>
              <a:spcBef>
                <a:spcPts val="400"/>
              </a:spcBef>
              <a:spcAft>
                <a:spcPts val="600"/>
              </a:spcAft>
            </a:pPr>
            <a:r>
              <a:rPr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Tres roles con </a:t>
            </a:r>
            <a:r>
              <a:rPr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acciones</a:t>
            </a:r>
            <a:r>
              <a:rPr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propias</a:t>
            </a:r>
            <a:r>
              <a:rPr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paciente</a:t>
            </a:r>
            <a:r>
              <a:rPr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cuidador</a:t>
            </a:r>
            <a:r>
              <a:rPr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 familiar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7ED3CC9-FEDF-0850-FC4D-0F344A5296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2013" y="2630474"/>
            <a:ext cx="3927001" cy="187886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3000" b="1" dirty="0">
                <a:solidFill>
                  <a:srgbClr val="FFFFFF"/>
                </a:solidFill>
                <a:latin typeface="Arial"/>
              </a:rPr>
              <a:t>Estado del arte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0936" y="1234440"/>
            <a:ext cx="7882127" cy="3184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 Las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soluciones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del mercado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tienden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resolver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parcelas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aisladas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del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problema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742950" lvl="1" indent="-285750">
              <a:lnSpc>
                <a:spcPct val="105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Medisafe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CL"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gestión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medicamentos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adherencia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avisa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al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cuidador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Medfriend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742950" lvl="1" indent="-285750">
              <a:lnSpc>
                <a:spcPct val="105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MyTherapy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CL"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recordatorio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tomas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seguimiento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salud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uso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individual</a:t>
            </a:r>
          </a:p>
          <a:p>
            <a:pPr marL="742950" lvl="1" indent="-285750">
              <a:lnSpc>
                <a:spcPct val="105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CogniFit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CL" sz="160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entrenamiento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cognitivo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con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respaldo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científico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por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suscripción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742950" lvl="1" indent="-285750">
              <a:lnSpc>
                <a:spcPct val="105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Kwido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Mementia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CL" sz="160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cuidado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integral,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pero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escala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profesional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institucional</a:t>
            </a:r>
            <a:endParaRPr sz="1600" b="0" dirty="0">
              <a:solidFill>
                <a:srgbClr val="22222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600"/>
              </a:spcAft>
            </a:pPr>
            <a:r>
              <a:rPr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Diferenciación</a:t>
            </a:r>
            <a:r>
              <a:rPr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CuidaMayor</a:t>
            </a:r>
            <a:endParaRPr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Ninguna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reúne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una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web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accesible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y de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uso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doméstico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medicamentos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+ agenda + SOS +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estimulación</a:t>
            </a:r>
            <a:endParaRPr sz="1800" b="0" dirty="0">
              <a:solidFill>
                <a:srgbClr val="22222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articulados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torno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tres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roles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diferenciados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paciente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cuidador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y familiar)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6359" y="202288"/>
            <a:ext cx="7886700" cy="618167"/>
          </a:xfrm>
        </p:spPr>
        <p:txBody>
          <a:bodyPr/>
          <a:lstStyle/>
          <a:p>
            <a:r>
              <a:rPr sz="3000" b="1" dirty="0" err="1">
                <a:solidFill>
                  <a:srgbClr val="FFFFFF"/>
                </a:solidFill>
                <a:latin typeface="Arial"/>
              </a:rPr>
              <a:t>Comparación</a:t>
            </a:r>
            <a:r>
              <a:rPr sz="3000" b="1" dirty="0">
                <a:solidFill>
                  <a:srgbClr val="FFFFFF"/>
                </a:solidFill>
                <a:latin typeface="Arial"/>
              </a:rPr>
              <a:t> de </a:t>
            </a:r>
            <a:r>
              <a:rPr sz="3000" b="1" dirty="0" err="1">
                <a:solidFill>
                  <a:srgbClr val="FFFFFF"/>
                </a:solidFill>
                <a:latin typeface="Arial"/>
              </a:rPr>
              <a:t>soluciones</a:t>
            </a:r>
            <a:r>
              <a:rPr sz="30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FFFFFF"/>
                </a:solidFill>
                <a:latin typeface="Arial"/>
              </a:rPr>
              <a:t>existentes</a:t>
            </a:r>
            <a:endParaRPr sz="3000" b="1" dirty="0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203876"/>
              </p:ext>
            </p:extLst>
          </p:nvPr>
        </p:nvGraphicFramePr>
        <p:xfrm>
          <a:off x="630936" y="1682724"/>
          <a:ext cx="7882123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941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7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5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7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9796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705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Funcionalidad</a:t>
                      </a:r>
                    </a:p>
                  </a:txBody>
                  <a:tcPr marL="54864" marR="54864" marT="18288" marB="18288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Medisafe</a:t>
                      </a:r>
                    </a:p>
                  </a:txBody>
                  <a:tcPr marL="54864" marR="54864" marT="18288" marB="18288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MyTherapy</a:t>
                      </a:r>
                    </a:p>
                  </a:txBody>
                  <a:tcPr marL="54864" marR="54864" marT="18288" marB="18288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CogniFit</a:t>
                      </a:r>
                    </a:p>
                  </a:txBody>
                  <a:tcPr marL="54864" marR="54864" marT="18288" marB="18288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Kwido</a:t>
                      </a:r>
                    </a:p>
                  </a:txBody>
                  <a:tcPr marL="54864" marR="54864" marT="18288" marB="18288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CuidaMayor</a:t>
                      </a:r>
                    </a:p>
                  </a:txBody>
                  <a:tcPr marL="54864" marR="54864" marT="18288" marB="18288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Gestión de medicamentos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Sí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Sí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Parcial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Sí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Agenda diaria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Parcial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Parcial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Sí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Sí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Alertas de auxilio (SOS)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Sí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Sí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Estimulación cognitiva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Sí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Sí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Sí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Roles diferenciados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Parcial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Sí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Sí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Web accesible (WCAG)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Parcial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Sí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Uso doméstico/familiar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Sí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Sí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Sí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solidFill>
                            <a:srgbClr val="222222"/>
                          </a:solidFill>
                          <a:latin typeface="Arial"/>
                        </a:rPr>
                        <a:t>Sí</a:t>
                      </a:r>
                      <a:endParaRPr sz="1100" dirty="0">
                        <a:solidFill>
                          <a:srgbClr val="222222"/>
                        </a:solidFill>
                        <a:latin typeface="Arial"/>
                      </a:endParaRP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26359" y="1092783"/>
            <a:ext cx="7882127" cy="3041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 b="0" dirty="0">
                <a:solidFill>
                  <a:srgbClr val="222222"/>
                </a:solidFill>
                <a:latin typeface="Arial"/>
              </a:rPr>
              <a:t>•  </a:t>
            </a:r>
            <a:r>
              <a:rPr sz="14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Tabla</a:t>
            </a:r>
            <a:r>
              <a:rPr sz="14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1: </a:t>
            </a:r>
            <a:r>
              <a:rPr sz="14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Comparación</a:t>
            </a:r>
            <a:r>
              <a:rPr sz="14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las </a:t>
            </a:r>
            <a:r>
              <a:rPr sz="14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soluciones</a:t>
            </a:r>
            <a:r>
              <a:rPr sz="14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existentes</a:t>
            </a:r>
            <a:r>
              <a:rPr sz="14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frente</a:t>
            </a:r>
            <a:r>
              <a:rPr sz="14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sz="14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CuidaMayor</a:t>
            </a:r>
            <a:r>
              <a:rPr sz="1000" b="0" dirty="0">
                <a:solidFill>
                  <a:srgbClr val="222222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02288"/>
            <a:ext cx="7886700" cy="618167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CL" sz="3000" b="1" dirty="0">
                <a:latin typeface="Arial" panose="020B0604020202020204" pitchFamily="34" charset="0"/>
                <a:cs typeface="Arial" panose="020B0604020202020204" pitchFamily="34" charset="0"/>
              </a:rPr>
              <a:t>Marco teórico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48768" y="1229193"/>
            <a:ext cx="3886200" cy="47678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Envejecimiento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deterioro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cognitivo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55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millones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personas con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demencia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 principal factor de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riesgo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la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edad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(OMS)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Cuidado y red de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apoyo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roles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diferenciados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paciente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cuidador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principal y familia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que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monitorea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Accesibilidad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diseño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centrado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el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usuario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WCAG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contenido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perceptible, operable,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comprensible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robusto</a:t>
            </a:r>
            <a:endParaRPr lang="en-US" sz="13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1" indent="-228600"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Contraste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tamaño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letra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botones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y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navegación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simple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Estimulación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cognitiva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mediante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juegos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beneficios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demencia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leve-moderada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(Woods et al., 2012)</a:t>
            </a:r>
          </a:p>
          <a:p>
            <a:pPr marL="228600" lvl="1" indent="-228600"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Memorice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sin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cronómetro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presión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 con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refuerzo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positivo</a:t>
            </a:r>
            <a:endParaRPr lang="en-US" sz="13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Tecnologías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React, Node.js/Express, PostgreSQL (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Supabase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Prisma, JWT, </a:t>
            </a:r>
            <a:r>
              <a:rPr lang="en-US" sz="13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bcrypt</a:t>
            </a:r>
            <a:r>
              <a:rPr lang="en-US" sz="13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 Zod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53F51B4-063F-9C0A-6670-4F7F91D339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443" r="23942" b="-1"/>
          <a:stretch>
            <a:fillRect/>
          </a:stretch>
        </p:blipFill>
        <p:spPr>
          <a:xfrm>
            <a:off x="4629150" y="1229193"/>
            <a:ext cx="3886200" cy="4351338"/>
          </a:xfrm>
          <a:prstGeom prst="rect">
            <a:avLst/>
          </a:prstGeom>
          <a:noFill/>
        </p:spPr>
      </p:pic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46A449F8-E69D-A2DA-9B7E-0ED049C96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3352F6F5-E16D-F340-A90C-ABCF032D59B6}" type="slidenum">
              <a:rPr lang="es-ES_tradnl" smtClean="0"/>
              <a:pPr>
                <a:spcAft>
                  <a:spcPts val="600"/>
                </a:spcAft>
              </a:pPr>
              <a:t>7</a:t>
            </a:fld>
            <a:endParaRPr lang="es-ES_tradnl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 dirty="0" err="1">
                <a:solidFill>
                  <a:srgbClr val="FFFFFF"/>
                </a:solidFill>
                <a:latin typeface="Arial"/>
              </a:rPr>
              <a:t>Objetivo</a:t>
            </a:r>
            <a:r>
              <a:rPr lang="es-CL" sz="3000" b="1" dirty="0">
                <a:solidFill>
                  <a:srgbClr val="FFFFFF"/>
                </a:solidFill>
                <a:latin typeface="Arial"/>
              </a:rPr>
              <a:t>s</a:t>
            </a:r>
            <a:endParaRPr sz="3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30936" y="1234440"/>
            <a:ext cx="7882127" cy="4858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Bef>
                <a:spcPts val="400"/>
              </a:spcBef>
              <a:spcAft>
                <a:spcPts val="600"/>
              </a:spcAft>
            </a:pPr>
            <a:r>
              <a:rPr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Objetivo</a:t>
            </a:r>
            <a:r>
              <a:rPr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general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Desarrollar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una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plataforma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web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accesible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apoye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el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cuidado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adultos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mayores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con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deterioro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cognitivo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integrando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la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gestión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medicamentos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la agenda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diaria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las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alertas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auxilio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y la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estimulación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cognitiva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con roles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diferenciados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para el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paciente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la persona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cuidadora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y la familia.</a:t>
            </a:r>
            <a:endParaRPr lang="es-CL" sz="1600" b="0" dirty="0">
              <a:solidFill>
                <a:srgbClr val="22222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5000"/>
              </a:lnSpc>
              <a:spcAft>
                <a:spcPts val="600"/>
              </a:spcAft>
            </a:pPr>
            <a:endParaRPr lang="es-CL" sz="1600" b="0" dirty="0">
              <a:solidFill>
                <a:srgbClr val="22222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lang="es-CL" sz="1600" b="1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Objetivos específicos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lang="es-MX" sz="160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 Diseñar una interfaz accesible para personas mayores (DCU y pautas WCAG)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lang="es-MX" sz="160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 Implementar autenticación y autorización con JWT y control de acceso por rol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lang="es-MX" sz="160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 Construir un módulo de gestión de medicamentos con registro de tomas e historial 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lang="es-MX" sz="160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 Desarrollar un módulo de agenda diaria ordenada por hora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lang="es-MX" sz="160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 Incorporar un sistema de alertas SOS trazable (emitir y atender)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lang="es-MX" sz="160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 Integrar el juego Memorice con registro de partidas y seguimiento del progreso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lang="es-MX" sz="160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 Implementar recordatorios de tomas y actividades para el paciente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endParaRPr sz="2000" b="0" dirty="0">
              <a:solidFill>
                <a:srgbClr val="22222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CL" sz="3000" b="1" dirty="0">
                <a:solidFill>
                  <a:srgbClr val="FFFFFF"/>
                </a:solidFill>
                <a:latin typeface="Arial"/>
              </a:rPr>
              <a:t>Metodología de Trabajo</a:t>
            </a:r>
            <a:endParaRPr sz="3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544661" y="886317"/>
            <a:ext cx="6054677" cy="5085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Bef>
                <a:spcPts val="400"/>
              </a:spcBef>
              <a:spcAft>
                <a:spcPts val="600"/>
              </a:spcAft>
            </a:pPr>
            <a:r>
              <a:rPr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Desarrollo incremental e </a:t>
            </a:r>
            <a:r>
              <a:rPr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iterativo</a:t>
            </a:r>
            <a:r>
              <a:rPr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principios</a:t>
            </a:r>
            <a:r>
              <a:rPr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ágiles</a:t>
            </a:r>
            <a:r>
              <a:rPr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 La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funcionalidad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entrega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incrementos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sucesivos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sobre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una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base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funcional</a:t>
            </a:r>
            <a:endParaRPr sz="1800" b="0" dirty="0">
              <a:solidFill>
                <a:srgbClr val="22222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 Cada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incremento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contempla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planificación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diseño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implementación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prueba</a:t>
            </a:r>
            <a:endParaRPr sz="1800" b="0" dirty="0">
              <a:solidFill>
                <a:srgbClr val="22222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Mantiene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el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sistema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siempre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un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estado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demostrable</a:t>
            </a:r>
            <a:r>
              <a:rPr sz="18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sz="18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verificable</a:t>
            </a:r>
            <a:endParaRPr sz="1800" b="0" dirty="0">
              <a:solidFill>
                <a:srgbClr val="22222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600"/>
              </a:spcAft>
            </a:pPr>
            <a:r>
              <a:rPr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Modelo de vistas </a:t>
            </a:r>
            <a:r>
              <a:rPr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arquitectónicas</a:t>
            </a:r>
            <a:r>
              <a:rPr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4+1 (Kruchten, 1995)</a:t>
            </a:r>
          </a:p>
          <a:p>
            <a:pPr marL="742950" lvl="1" indent="-285750" algn="just">
              <a:lnSpc>
                <a:spcPct val="105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Vista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lógica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—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datos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entidades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del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dominio</a:t>
            </a:r>
            <a:endParaRPr sz="1600" b="0" dirty="0">
              <a:solidFill>
                <a:srgbClr val="22222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algn="just">
              <a:lnSpc>
                <a:spcPct val="105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Vista de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proceso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—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comportamiento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dinámico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flujos</a:t>
            </a:r>
            <a:endParaRPr sz="1600" b="0" dirty="0">
              <a:solidFill>
                <a:srgbClr val="22222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algn="just">
              <a:lnSpc>
                <a:spcPct val="105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Vista de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desarrollo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—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organización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del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código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módulos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capas</a:t>
            </a:r>
            <a:endParaRPr sz="1600" b="0" dirty="0">
              <a:solidFill>
                <a:srgbClr val="22222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algn="just">
              <a:lnSpc>
                <a:spcPct val="105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Vista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física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—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despliegue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sobre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la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infraestructura</a:t>
            </a:r>
            <a:endParaRPr sz="1600" b="0" dirty="0">
              <a:solidFill>
                <a:srgbClr val="22222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algn="just">
              <a:lnSpc>
                <a:spcPct val="105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CL" sz="160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asos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uso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validan</a:t>
            </a:r>
            <a:r>
              <a:rPr sz="16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las cuatro vistas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FFFFFF"/>
                </a:solidFill>
                <a:latin typeface="Arial"/>
              </a:rPr>
              <a:t>Levantamiento de procesos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0936" y="1188720"/>
            <a:ext cx="7882127" cy="1123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 El </a:t>
            </a:r>
            <a:r>
              <a:rPr sz="15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proceso</a:t>
            </a:r>
            <a:r>
              <a:rPr sz="15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central de </a:t>
            </a:r>
            <a:r>
              <a:rPr sz="15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cuidado</a:t>
            </a:r>
            <a:r>
              <a:rPr sz="15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articula</a:t>
            </a:r>
            <a:r>
              <a:rPr sz="15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cuatro </a:t>
            </a:r>
            <a:r>
              <a:rPr sz="15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actividades</a:t>
            </a:r>
            <a:r>
              <a:rPr sz="15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recurrentes</a:t>
            </a:r>
            <a:r>
              <a:rPr sz="15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sz="15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medicamentos</a:t>
            </a:r>
            <a:r>
              <a:rPr sz="15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sz="15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tomas</a:t>
            </a:r>
            <a:r>
              <a:rPr sz="15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agenda </a:t>
            </a:r>
            <a:r>
              <a:rPr sz="15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diaria</a:t>
            </a:r>
            <a:r>
              <a:rPr sz="15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5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atención</a:t>
            </a:r>
            <a:r>
              <a:rPr sz="15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sz="15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pedidos</a:t>
            </a:r>
            <a:r>
              <a:rPr sz="15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sz="15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ayuda</a:t>
            </a:r>
            <a:r>
              <a:rPr sz="15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sz="15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estimulación</a:t>
            </a:r>
            <a:r>
              <a:rPr sz="15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cognitiva</a:t>
            </a:r>
            <a:endParaRPr sz="1500" b="0" dirty="0">
              <a:solidFill>
                <a:srgbClr val="22222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 </a:t>
            </a:r>
            <a:r>
              <a:rPr sz="15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Situación</a:t>
            </a:r>
            <a:r>
              <a:rPr sz="15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sz="15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partida</a:t>
            </a:r>
            <a:r>
              <a:rPr sz="15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manual y </a:t>
            </a:r>
            <a:r>
              <a:rPr sz="15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dispersa</a:t>
            </a:r>
            <a:r>
              <a:rPr sz="15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(memoria, </a:t>
            </a:r>
            <a:r>
              <a:rPr sz="15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papel</a:t>
            </a:r>
            <a:r>
              <a:rPr sz="15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5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llamadas</a:t>
            </a:r>
            <a:r>
              <a:rPr sz="15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sin </a:t>
            </a:r>
            <a:r>
              <a:rPr sz="15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trazabilidad</a:t>
            </a:r>
            <a:r>
              <a:rPr sz="15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sz="15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intervienen</a:t>
            </a:r>
            <a:r>
              <a:rPr sz="15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tres</a:t>
            </a:r>
            <a:r>
              <a:rPr sz="15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actores</a:t>
            </a:r>
            <a:r>
              <a:rPr sz="15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sz="15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paciente</a:t>
            </a:r>
            <a:r>
              <a:rPr sz="15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500" b="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cuidador</a:t>
            </a:r>
            <a:r>
              <a:rPr sz="1500" b="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y familiar)</a:t>
            </a:r>
          </a:p>
        </p:txBody>
      </p:sp>
      <p:pic>
        <p:nvPicPr>
          <p:cNvPr id="4" name="Picture 3" descr="img_bpm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2515536"/>
            <a:ext cx="7732785" cy="3153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424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 dirty="0" err="1">
                <a:solidFill>
                  <a:srgbClr val="595959"/>
                </a:solidFill>
                <a:latin typeface="Arial"/>
              </a:rPr>
              <a:t>Figura</a:t>
            </a:r>
            <a:r>
              <a:rPr sz="1000" i="1" dirty="0">
                <a:solidFill>
                  <a:srgbClr val="595959"/>
                </a:solidFill>
                <a:latin typeface="Arial"/>
              </a:rPr>
              <a:t> 2: </a:t>
            </a:r>
            <a:r>
              <a:rPr sz="1000" i="1" dirty="0" err="1">
                <a:solidFill>
                  <a:srgbClr val="595959"/>
                </a:solidFill>
                <a:latin typeface="Arial"/>
              </a:rPr>
              <a:t>Diagrama</a:t>
            </a:r>
            <a:r>
              <a:rPr sz="1000" i="1" dirty="0">
                <a:solidFill>
                  <a:srgbClr val="595959"/>
                </a:solidFill>
                <a:latin typeface="Arial"/>
              </a:rPr>
              <a:t> BPMN del </a:t>
            </a:r>
            <a:r>
              <a:rPr sz="1000" i="1" dirty="0" err="1">
                <a:solidFill>
                  <a:srgbClr val="595959"/>
                </a:solidFill>
                <a:latin typeface="Arial"/>
              </a:rPr>
              <a:t>proceso</a:t>
            </a:r>
            <a:r>
              <a:rPr sz="1000" i="1" dirty="0">
                <a:solidFill>
                  <a:srgbClr val="595959"/>
                </a:solidFill>
                <a:latin typeface="Arial"/>
              </a:rPr>
              <a:t> de </a:t>
            </a:r>
            <a:r>
              <a:rPr sz="1000" i="1" dirty="0" err="1">
                <a:solidFill>
                  <a:srgbClr val="595959"/>
                </a:solidFill>
                <a:latin typeface="Arial"/>
              </a:rPr>
              <a:t>cuidado</a:t>
            </a:r>
            <a:r>
              <a:rPr sz="1000" i="1" dirty="0">
                <a:solidFill>
                  <a:srgbClr val="595959"/>
                </a:solidFill>
                <a:latin typeface="Arial"/>
              </a:rPr>
              <a:t> </a:t>
            </a:r>
            <a:r>
              <a:rPr sz="1000" i="1" dirty="0" err="1">
                <a:solidFill>
                  <a:srgbClr val="595959"/>
                </a:solidFill>
                <a:latin typeface="Arial"/>
              </a:rPr>
              <a:t>diario</a:t>
            </a:r>
            <a:r>
              <a:rPr sz="1000" i="1" dirty="0">
                <a:solidFill>
                  <a:srgbClr val="595959"/>
                </a:solidFill>
                <a:latin typeface="Arial"/>
              </a:rPr>
              <a:t> del </a:t>
            </a:r>
            <a:r>
              <a:rPr sz="1000" i="1" dirty="0" err="1">
                <a:solidFill>
                  <a:srgbClr val="595959"/>
                </a:solidFill>
                <a:latin typeface="Arial"/>
              </a:rPr>
              <a:t>adulto</a:t>
            </a:r>
            <a:r>
              <a:rPr sz="1000" i="1" dirty="0">
                <a:solidFill>
                  <a:srgbClr val="595959"/>
                </a:solidFill>
                <a:latin typeface="Arial"/>
              </a:rPr>
              <a:t> mayor.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 dirty="0" err="1">
                <a:solidFill>
                  <a:srgbClr val="FFFFFF"/>
                </a:solidFill>
                <a:latin typeface="Arial"/>
              </a:rPr>
              <a:t>Requisitos</a:t>
            </a:r>
            <a:r>
              <a:rPr sz="30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FFFFFF"/>
                </a:solidFill>
                <a:latin typeface="Arial"/>
              </a:rPr>
              <a:t>funcionales</a:t>
            </a:r>
            <a:endParaRPr sz="3000" b="1" dirty="0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9349928"/>
              </p:ext>
            </p:extLst>
          </p:nvPr>
        </p:nvGraphicFramePr>
        <p:xfrm>
          <a:off x="630936" y="1234440"/>
          <a:ext cx="7882126" cy="4416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663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158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54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ID</a:t>
                      </a:r>
                    </a:p>
                  </a:txBody>
                  <a:tcPr marL="54864" marR="54864" marT="18288" marB="18288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dirty="0" err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Requisito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funcional</a:t>
                      </a:r>
                      <a:endParaRPr sz="1400" b="1" dirty="0">
                        <a:solidFill>
                          <a:srgbClr val="FFFFFF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4864" marR="54864" marT="18288" marB="18288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RF-01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Registrar una cuenta indicando su rol (paciente, cuidador o familiar).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RF-02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Iniciar sesión por nombre de usuario y contraseña; recuperar la sesión activa.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RF-03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Restringir cada acción según el rol del usuario autenticado.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RF-04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Gestionar los medicamentos del adulto mayor (solo el cuidador).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RF-05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Registrar la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toma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de un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medicamento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quién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la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marcó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y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cuándo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).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RF-06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Consultar el historial de tomas de cada medicamento.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RF-07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Gestionar la agenda diaria ordenada por hora (solo el cuidador).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RF-08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Permitir al paciente emitir una alerta de auxilio (botón SOS).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RF-09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Listar y atender las alertas SOS (cuidador y familiar).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RF-10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Ofrecer el juego Memorice y registrar cada partida.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RF-11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Mostrar el seguimiento del progreso del paciente.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RF-12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Notificar al paciente sus recordatorios (tomas y actividades).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RF-13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Notificar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al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cuidador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y familiar las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alertas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SOS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pendientes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8886" y="1062516"/>
            <a:ext cx="7886700" cy="618167"/>
          </a:xfrm>
        </p:spPr>
        <p:txBody>
          <a:bodyPr/>
          <a:lstStyle/>
          <a:p>
            <a:r>
              <a:rPr lang="es-CL" sz="3000" b="1" dirty="0">
                <a:solidFill>
                  <a:srgbClr val="FFFFFF"/>
                </a:solidFill>
                <a:latin typeface="Arial"/>
              </a:rPr>
              <a:t>Requisitos no</a:t>
            </a:r>
            <a:endParaRPr sz="3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0">
            <a:extLst>
              <a:ext uri="{FF2B5EF4-FFF2-40B4-BE49-F238E27FC236}">
                <a16:creationId xmlns:a16="http://schemas.microsoft.com/office/drawing/2014/main" id="{58BBDF9C-B24A-E6B5-928D-0B2D0841A797}"/>
              </a:ext>
            </a:extLst>
          </p:cNvPr>
          <p:cNvSpPr/>
          <p:nvPr/>
        </p:nvSpPr>
        <p:spPr>
          <a:xfrm>
            <a:off x="188876" y="1408868"/>
            <a:ext cx="822960" cy="822960"/>
          </a:xfrm>
          <a:prstGeom prst="ellipse">
            <a:avLst/>
          </a:prstGeom>
          <a:solidFill>
            <a:srgbClr val="E6F1FB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3" name="Image 0" descr="preencoded.png">
            <a:extLst>
              <a:ext uri="{FF2B5EF4-FFF2-40B4-BE49-F238E27FC236}">
                <a16:creationId xmlns:a16="http://schemas.microsoft.com/office/drawing/2014/main" id="{424AFF64-5858-3609-3FDA-14E58029CB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896" y="1568888"/>
            <a:ext cx="502920" cy="502920"/>
          </a:xfrm>
          <a:prstGeom prst="rect">
            <a:avLst/>
          </a:prstGeom>
        </p:spPr>
      </p:pic>
      <p:sp>
        <p:nvSpPr>
          <p:cNvPr id="25" name="Text 1">
            <a:extLst>
              <a:ext uri="{FF2B5EF4-FFF2-40B4-BE49-F238E27FC236}">
                <a16:creationId xmlns:a16="http://schemas.microsoft.com/office/drawing/2014/main" id="{16F2904B-7E07-06E2-DB3F-A35AC74E7B6C}"/>
              </a:ext>
            </a:extLst>
          </p:cNvPr>
          <p:cNvSpPr/>
          <p:nvPr/>
        </p:nvSpPr>
        <p:spPr>
          <a:xfrm>
            <a:off x="1194716" y="13905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Accesibilidad</a:t>
            </a:r>
            <a:endParaRPr lang="en-US" sz="1500" dirty="0"/>
          </a:p>
        </p:txBody>
      </p:sp>
      <p:sp>
        <p:nvSpPr>
          <p:cNvPr id="27" name="Text 2">
            <a:extLst>
              <a:ext uri="{FF2B5EF4-FFF2-40B4-BE49-F238E27FC236}">
                <a16:creationId xmlns:a16="http://schemas.microsoft.com/office/drawing/2014/main" id="{B7A0BF6B-3A7B-6F78-7D4D-930CDBA06F31}"/>
              </a:ext>
            </a:extLst>
          </p:cNvPr>
          <p:cNvSpPr/>
          <p:nvPr/>
        </p:nvSpPr>
        <p:spPr>
          <a:xfrm>
            <a:off x="1194716" y="1701476"/>
            <a:ext cx="29575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4444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Interfaz según WCAG: tipografía grande, alto contraste, botones amplios y navegación simple</a:t>
            </a:r>
            <a:r>
              <a:rPr lang="en-US" sz="115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29" name="Shape 3">
            <a:extLst>
              <a:ext uri="{FF2B5EF4-FFF2-40B4-BE49-F238E27FC236}">
                <a16:creationId xmlns:a16="http://schemas.microsoft.com/office/drawing/2014/main" id="{D48193A7-286A-4A26-7A18-2CF58A45D34E}"/>
              </a:ext>
            </a:extLst>
          </p:cNvPr>
          <p:cNvSpPr/>
          <p:nvPr/>
        </p:nvSpPr>
        <p:spPr>
          <a:xfrm>
            <a:off x="188876" y="2643308"/>
            <a:ext cx="822960" cy="822960"/>
          </a:xfrm>
          <a:prstGeom prst="ellipse">
            <a:avLst/>
          </a:prstGeom>
          <a:solidFill>
            <a:srgbClr val="E6F1FB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31" name="Image 1" descr="preencoded.png">
            <a:extLst>
              <a:ext uri="{FF2B5EF4-FFF2-40B4-BE49-F238E27FC236}">
                <a16:creationId xmlns:a16="http://schemas.microsoft.com/office/drawing/2014/main" id="{6497E825-812E-4230-7854-867530DE95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896" y="2803328"/>
            <a:ext cx="502920" cy="502920"/>
          </a:xfrm>
          <a:prstGeom prst="rect">
            <a:avLst/>
          </a:prstGeom>
        </p:spPr>
      </p:pic>
      <p:sp>
        <p:nvSpPr>
          <p:cNvPr id="33" name="Text 4">
            <a:extLst>
              <a:ext uri="{FF2B5EF4-FFF2-40B4-BE49-F238E27FC236}">
                <a16:creationId xmlns:a16="http://schemas.microsoft.com/office/drawing/2014/main" id="{E271307D-5FB8-9263-A8E8-0172CCA96C43}"/>
              </a:ext>
            </a:extLst>
          </p:cNvPr>
          <p:cNvSpPr/>
          <p:nvPr/>
        </p:nvSpPr>
        <p:spPr>
          <a:xfrm>
            <a:off x="1194716" y="26250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</a:t>
            </a:r>
            <a:endParaRPr lang="en-US" sz="1500" dirty="0"/>
          </a:p>
        </p:txBody>
      </p:sp>
      <p:sp>
        <p:nvSpPr>
          <p:cNvPr id="35" name="Text 5">
            <a:extLst>
              <a:ext uri="{FF2B5EF4-FFF2-40B4-BE49-F238E27FC236}">
                <a16:creationId xmlns:a16="http://schemas.microsoft.com/office/drawing/2014/main" id="{B4125131-D0E7-09A0-74D2-9C8E5D89125D}"/>
              </a:ext>
            </a:extLst>
          </p:cNvPr>
          <p:cNvSpPr/>
          <p:nvPr/>
        </p:nvSpPr>
        <p:spPr>
          <a:xfrm>
            <a:off x="1194716" y="2935916"/>
            <a:ext cx="25678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4444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El paciente realiza sus acciones esenciales en pocos pasos y con lenguaje claro.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Shape 6">
            <a:extLst>
              <a:ext uri="{FF2B5EF4-FFF2-40B4-BE49-F238E27FC236}">
                <a16:creationId xmlns:a16="http://schemas.microsoft.com/office/drawing/2014/main" id="{93E76AEE-B76D-88F1-B582-6C2D2484EA18}"/>
              </a:ext>
            </a:extLst>
          </p:cNvPr>
          <p:cNvSpPr/>
          <p:nvPr/>
        </p:nvSpPr>
        <p:spPr>
          <a:xfrm>
            <a:off x="188876" y="3877748"/>
            <a:ext cx="822960" cy="822960"/>
          </a:xfrm>
          <a:prstGeom prst="ellipse">
            <a:avLst/>
          </a:prstGeom>
          <a:solidFill>
            <a:srgbClr val="E6F1FB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39" name="Image 2" descr="preencoded.png">
            <a:extLst>
              <a:ext uri="{FF2B5EF4-FFF2-40B4-BE49-F238E27FC236}">
                <a16:creationId xmlns:a16="http://schemas.microsoft.com/office/drawing/2014/main" id="{C5A082DC-21C7-3A56-65E2-FC998B9B40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896" y="4037768"/>
            <a:ext cx="502920" cy="502920"/>
          </a:xfrm>
          <a:prstGeom prst="rect">
            <a:avLst/>
          </a:prstGeom>
        </p:spPr>
      </p:pic>
      <p:sp>
        <p:nvSpPr>
          <p:cNvPr id="41" name="Text 7">
            <a:extLst>
              <a:ext uri="{FF2B5EF4-FFF2-40B4-BE49-F238E27FC236}">
                <a16:creationId xmlns:a16="http://schemas.microsoft.com/office/drawing/2014/main" id="{5E7B500B-7842-69E7-6E2F-EB3209C5D198}"/>
              </a:ext>
            </a:extLst>
          </p:cNvPr>
          <p:cNvSpPr/>
          <p:nvPr/>
        </p:nvSpPr>
        <p:spPr>
          <a:xfrm>
            <a:off x="1194716" y="387774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1500" dirty="0"/>
          </a:p>
        </p:txBody>
      </p:sp>
      <p:sp>
        <p:nvSpPr>
          <p:cNvPr id="43" name="Text 8">
            <a:extLst>
              <a:ext uri="{FF2B5EF4-FFF2-40B4-BE49-F238E27FC236}">
                <a16:creationId xmlns:a16="http://schemas.microsoft.com/office/drawing/2014/main" id="{311FEF2D-0A25-6C7B-0F0E-3A2EB7DCD4CD}"/>
              </a:ext>
            </a:extLst>
          </p:cNvPr>
          <p:cNvSpPr/>
          <p:nvPr/>
        </p:nvSpPr>
        <p:spPr>
          <a:xfrm>
            <a:off x="1194716" y="4170356"/>
            <a:ext cx="2687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4444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Contraseñas con hash bcrypt; acceso con JWT y autorización por rol.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Shape 9">
            <a:extLst>
              <a:ext uri="{FF2B5EF4-FFF2-40B4-BE49-F238E27FC236}">
                <a16:creationId xmlns:a16="http://schemas.microsoft.com/office/drawing/2014/main" id="{004612E9-3CE9-5D58-844F-0361E5401CCC}"/>
              </a:ext>
            </a:extLst>
          </p:cNvPr>
          <p:cNvSpPr/>
          <p:nvPr/>
        </p:nvSpPr>
        <p:spPr>
          <a:xfrm>
            <a:off x="188876" y="5112188"/>
            <a:ext cx="822960" cy="822960"/>
          </a:xfrm>
          <a:prstGeom prst="ellipse">
            <a:avLst/>
          </a:prstGeom>
          <a:solidFill>
            <a:srgbClr val="E6F1FB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47" name="Image 3" descr="preencoded.png">
            <a:extLst>
              <a:ext uri="{FF2B5EF4-FFF2-40B4-BE49-F238E27FC236}">
                <a16:creationId xmlns:a16="http://schemas.microsoft.com/office/drawing/2014/main" id="{E4570A71-9F05-E355-AC1E-7EAF0DDD68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896" y="5272208"/>
            <a:ext cx="502920" cy="502920"/>
          </a:xfrm>
          <a:prstGeom prst="rect">
            <a:avLst/>
          </a:prstGeom>
        </p:spPr>
      </p:pic>
      <p:sp>
        <p:nvSpPr>
          <p:cNvPr id="49" name="Text 10">
            <a:extLst>
              <a:ext uri="{FF2B5EF4-FFF2-40B4-BE49-F238E27FC236}">
                <a16:creationId xmlns:a16="http://schemas.microsoft.com/office/drawing/2014/main" id="{3D658284-908D-0A53-86F1-58451D6FD884}"/>
              </a:ext>
            </a:extLst>
          </p:cNvPr>
          <p:cNvSpPr/>
          <p:nvPr/>
        </p:nvSpPr>
        <p:spPr>
          <a:xfrm>
            <a:off x="1194716" y="50939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Aislamiento</a:t>
            </a:r>
            <a:endParaRPr lang="en-US" sz="1500" dirty="0"/>
          </a:p>
        </p:txBody>
      </p:sp>
      <p:sp>
        <p:nvSpPr>
          <p:cNvPr id="51" name="Text 11">
            <a:extLst>
              <a:ext uri="{FF2B5EF4-FFF2-40B4-BE49-F238E27FC236}">
                <a16:creationId xmlns:a16="http://schemas.microsoft.com/office/drawing/2014/main" id="{3FD588A0-602F-7154-9CC9-5D28EE3A34D8}"/>
              </a:ext>
            </a:extLst>
          </p:cNvPr>
          <p:cNvSpPr/>
          <p:nvPr/>
        </p:nvSpPr>
        <p:spPr>
          <a:xfrm>
            <a:off x="1194716" y="5404796"/>
            <a:ext cx="2687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4444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Ningún usuario accede a datos de un adulto mayor distinto al asociado.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Shape 12">
            <a:extLst>
              <a:ext uri="{FF2B5EF4-FFF2-40B4-BE49-F238E27FC236}">
                <a16:creationId xmlns:a16="http://schemas.microsoft.com/office/drawing/2014/main" id="{C752644F-E638-BE95-AB45-5FB168FD2886}"/>
              </a:ext>
            </a:extLst>
          </p:cNvPr>
          <p:cNvSpPr/>
          <p:nvPr/>
        </p:nvSpPr>
        <p:spPr>
          <a:xfrm>
            <a:off x="5252366" y="1363148"/>
            <a:ext cx="822960" cy="822960"/>
          </a:xfrm>
          <a:prstGeom prst="ellipse">
            <a:avLst/>
          </a:prstGeom>
          <a:solidFill>
            <a:srgbClr val="E6F1FB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55" name="Image 4" descr="preencoded.png">
            <a:extLst>
              <a:ext uri="{FF2B5EF4-FFF2-40B4-BE49-F238E27FC236}">
                <a16:creationId xmlns:a16="http://schemas.microsoft.com/office/drawing/2014/main" id="{29F22D25-7ED5-A343-853E-1DA699DA74C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12386" y="1523168"/>
            <a:ext cx="502920" cy="502920"/>
          </a:xfrm>
          <a:prstGeom prst="rect">
            <a:avLst/>
          </a:prstGeom>
        </p:spPr>
      </p:pic>
      <p:sp>
        <p:nvSpPr>
          <p:cNvPr id="57" name="Text 13">
            <a:extLst>
              <a:ext uri="{FF2B5EF4-FFF2-40B4-BE49-F238E27FC236}">
                <a16:creationId xmlns:a16="http://schemas.microsoft.com/office/drawing/2014/main" id="{E4A9D608-CBD2-0879-BD1F-0B23C4697BEA}"/>
              </a:ext>
            </a:extLst>
          </p:cNvPr>
          <p:cNvSpPr/>
          <p:nvPr/>
        </p:nvSpPr>
        <p:spPr>
          <a:xfrm>
            <a:off x="6423941" y="1373325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1500" dirty="0"/>
          </a:p>
        </p:txBody>
      </p:sp>
      <p:sp>
        <p:nvSpPr>
          <p:cNvPr id="59" name="Text 14">
            <a:extLst>
              <a:ext uri="{FF2B5EF4-FFF2-40B4-BE49-F238E27FC236}">
                <a16:creationId xmlns:a16="http://schemas.microsoft.com/office/drawing/2014/main" id="{AD13EDFA-F8E9-3A98-D20A-85FE4C34A21A}"/>
              </a:ext>
            </a:extLst>
          </p:cNvPr>
          <p:cNvSpPr/>
          <p:nvPr/>
        </p:nvSpPr>
        <p:spPr>
          <a:xfrm>
            <a:off x="6423941" y="1688793"/>
            <a:ext cx="237116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4444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Las consultas frecuentes (tomas del día, agenda) se resuelven en una sola petición.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Shape 15">
            <a:extLst>
              <a:ext uri="{FF2B5EF4-FFF2-40B4-BE49-F238E27FC236}">
                <a16:creationId xmlns:a16="http://schemas.microsoft.com/office/drawing/2014/main" id="{7888AA61-29B8-D3BB-460C-A8F6FA52533E}"/>
              </a:ext>
            </a:extLst>
          </p:cNvPr>
          <p:cNvSpPr/>
          <p:nvPr/>
        </p:nvSpPr>
        <p:spPr>
          <a:xfrm>
            <a:off x="5260048" y="2597588"/>
            <a:ext cx="822960" cy="822960"/>
          </a:xfrm>
          <a:prstGeom prst="ellipse">
            <a:avLst/>
          </a:prstGeom>
          <a:solidFill>
            <a:srgbClr val="E6F1FB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3" name="Image 5" descr="preencoded.png">
            <a:extLst>
              <a:ext uri="{FF2B5EF4-FFF2-40B4-BE49-F238E27FC236}">
                <a16:creationId xmlns:a16="http://schemas.microsoft.com/office/drawing/2014/main" id="{786FCBB1-D0AA-954B-9CC9-405F19FFA7C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20068" y="2788359"/>
            <a:ext cx="502920" cy="502920"/>
          </a:xfrm>
          <a:prstGeom prst="rect">
            <a:avLst/>
          </a:prstGeom>
        </p:spPr>
      </p:pic>
      <p:sp>
        <p:nvSpPr>
          <p:cNvPr id="65" name="Text 16">
            <a:extLst>
              <a:ext uri="{FF2B5EF4-FFF2-40B4-BE49-F238E27FC236}">
                <a16:creationId xmlns:a16="http://schemas.microsoft.com/office/drawing/2014/main" id="{6324FAD1-B755-131F-0E44-900D0E562868}"/>
              </a:ext>
            </a:extLst>
          </p:cNvPr>
          <p:cNvSpPr/>
          <p:nvPr/>
        </p:nvSpPr>
        <p:spPr>
          <a:xfrm>
            <a:off x="6423941" y="26433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</a:t>
            </a:r>
            <a:endParaRPr lang="en-US" sz="1500" dirty="0"/>
          </a:p>
        </p:txBody>
      </p:sp>
      <p:sp>
        <p:nvSpPr>
          <p:cNvPr id="67" name="Text 17">
            <a:extLst>
              <a:ext uri="{FF2B5EF4-FFF2-40B4-BE49-F238E27FC236}">
                <a16:creationId xmlns:a16="http://schemas.microsoft.com/office/drawing/2014/main" id="{A51C36C1-6D04-A375-5B49-C43EE20DE904}"/>
              </a:ext>
            </a:extLst>
          </p:cNvPr>
          <p:cNvSpPr/>
          <p:nvPr/>
        </p:nvSpPr>
        <p:spPr>
          <a:xfrm>
            <a:off x="6423941" y="2917628"/>
            <a:ext cx="237116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4444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La base de datos se aloja en un servicio gestionado (Supabase) con respaldo.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Shape 18">
            <a:extLst>
              <a:ext uri="{FF2B5EF4-FFF2-40B4-BE49-F238E27FC236}">
                <a16:creationId xmlns:a16="http://schemas.microsoft.com/office/drawing/2014/main" id="{6453CE24-574D-7B4E-067D-1A6DE372D78F}"/>
              </a:ext>
            </a:extLst>
          </p:cNvPr>
          <p:cNvSpPr/>
          <p:nvPr/>
        </p:nvSpPr>
        <p:spPr>
          <a:xfrm>
            <a:off x="5260048" y="3845744"/>
            <a:ext cx="822960" cy="822960"/>
          </a:xfrm>
          <a:prstGeom prst="ellipse">
            <a:avLst/>
          </a:prstGeom>
          <a:solidFill>
            <a:srgbClr val="E6F1FB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71" name="Image 6" descr="preencoded.png">
            <a:extLst>
              <a:ext uri="{FF2B5EF4-FFF2-40B4-BE49-F238E27FC236}">
                <a16:creationId xmlns:a16="http://schemas.microsoft.com/office/drawing/2014/main" id="{FD11CB63-30F1-D88F-73AA-701CA52DF79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20068" y="4005764"/>
            <a:ext cx="502920" cy="502920"/>
          </a:xfrm>
          <a:prstGeom prst="rect">
            <a:avLst/>
          </a:prstGeom>
        </p:spPr>
      </p:pic>
      <p:sp>
        <p:nvSpPr>
          <p:cNvPr id="73" name="Text 19">
            <a:extLst>
              <a:ext uri="{FF2B5EF4-FFF2-40B4-BE49-F238E27FC236}">
                <a16:creationId xmlns:a16="http://schemas.microsoft.com/office/drawing/2014/main" id="{5AE8DA7D-070A-4271-337D-36657180ADE3}"/>
              </a:ext>
            </a:extLst>
          </p:cNvPr>
          <p:cNvSpPr/>
          <p:nvPr/>
        </p:nvSpPr>
        <p:spPr>
          <a:xfrm>
            <a:off x="6423941" y="38594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Mantenibilidad</a:t>
            </a:r>
            <a:endParaRPr lang="en-US" sz="1500" dirty="0"/>
          </a:p>
        </p:txBody>
      </p:sp>
      <p:sp>
        <p:nvSpPr>
          <p:cNvPr id="75" name="Text 20">
            <a:extLst>
              <a:ext uri="{FF2B5EF4-FFF2-40B4-BE49-F238E27FC236}">
                <a16:creationId xmlns:a16="http://schemas.microsoft.com/office/drawing/2014/main" id="{37793D0C-EFBD-62BB-DB5C-02A910EB9B1B}"/>
              </a:ext>
            </a:extLst>
          </p:cNvPr>
          <p:cNvSpPr/>
          <p:nvPr/>
        </p:nvSpPr>
        <p:spPr>
          <a:xfrm>
            <a:off x="6423941" y="4152068"/>
            <a:ext cx="253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4444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Backend en capas estricto; frontend con capa de acceso a la API separada.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CuadroTexto 77">
            <a:extLst>
              <a:ext uri="{FF2B5EF4-FFF2-40B4-BE49-F238E27FC236}">
                <a16:creationId xmlns:a16="http://schemas.microsoft.com/office/drawing/2014/main" id="{2B8885AA-1A64-F0A7-9323-E8216B24A1AB}"/>
              </a:ext>
            </a:extLst>
          </p:cNvPr>
          <p:cNvSpPr txBox="1"/>
          <p:nvPr/>
        </p:nvSpPr>
        <p:spPr>
          <a:xfrm>
            <a:off x="600356" y="118525"/>
            <a:ext cx="68497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3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Requisitos No </a:t>
            </a:r>
            <a:r>
              <a:rPr lang="es-CL" sz="3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Funcionales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FFFFFF"/>
                </a:solidFill>
                <a:latin typeface="Arial"/>
              </a:rPr>
              <a:t>Casos de uso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3223" y="5640882"/>
            <a:ext cx="7882127" cy="497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0" dirty="0">
                <a:solidFill>
                  <a:srgbClr val="222222"/>
                </a:solidFill>
                <a:latin typeface="Arial"/>
              </a:rPr>
              <a:t>•  Caso de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uso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extendido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 </a:t>
            </a:r>
            <a:r>
              <a:rPr lang="es-CL" sz="1300" b="0" dirty="0">
                <a:solidFill>
                  <a:srgbClr val="222222"/>
                </a:solidFill>
                <a:latin typeface="Arial"/>
              </a:rPr>
              <a:t>: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Emitir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alerta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 SOS</a:t>
            </a:r>
            <a:r>
              <a:rPr lang="es-CL" sz="1300" b="0" dirty="0">
                <a:solidFill>
                  <a:srgbClr val="222222"/>
                </a:solidFill>
                <a:latin typeface="Arial"/>
              </a:rPr>
              <a:t>,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 el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paciente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pulsa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 </a:t>
            </a:r>
            <a:r>
              <a:rPr lang="es-CL" sz="1300" b="0" dirty="0">
                <a:solidFill>
                  <a:srgbClr val="22222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Necesito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ayuda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 → el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sistema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crea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 la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alerta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 con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quién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 y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cuándo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 →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queda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pendiente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 y visible para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cuidador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 y familiar.</a:t>
            </a:r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F8AA066F-685E-7030-271A-297082BE0A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9761166"/>
              </p:ext>
            </p:extLst>
          </p:nvPr>
        </p:nvGraphicFramePr>
        <p:xfrm>
          <a:off x="489678" y="1217117"/>
          <a:ext cx="8025672" cy="4014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12836">
                  <a:extLst>
                    <a:ext uri="{9D8B030D-6E8A-4147-A177-3AD203B41FA5}">
                      <a16:colId xmlns:a16="http://schemas.microsoft.com/office/drawing/2014/main" val="1753888706"/>
                    </a:ext>
                  </a:extLst>
                </a:gridCol>
                <a:gridCol w="4012836">
                  <a:extLst>
                    <a:ext uri="{9D8B030D-6E8A-4147-A177-3AD203B41FA5}">
                      <a16:colId xmlns:a16="http://schemas.microsoft.com/office/drawing/2014/main" val="1192340169"/>
                    </a:ext>
                  </a:extLst>
                </a:gridCol>
              </a:tblGrid>
              <a:tr h="524248">
                <a:tc>
                  <a:txBody>
                    <a:bodyPr/>
                    <a:lstStyle/>
                    <a:p>
                      <a:r>
                        <a:rPr lang="es-CL" dirty="0"/>
                        <a:t>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/>
                        <a:t>Casos de Uso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535354"/>
                  </a:ext>
                </a:extLst>
              </a:tr>
              <a:tr h="1292667">
                <a:tc>
                  <a:txBody>
                    <a:bodyPr/>
                    <a:lstStyle/>
                    <a:p>
                      <a:r>
                        <a:rPr lang="es-CL" dirty="0"/>
                        <a:t>Paciente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Iniciar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sesión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- 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Emitir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alerta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SOS - Marcar 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toma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de 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medicamento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- 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Jugar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Memorice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- Ver y resolver 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recordatorios</a:t>
                      </a:r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3009390"/>
                  </a:ext>
                </a:extLst>
              </a:tr>
              <a:tr h="1292667">
                <a:tc>
                  <a:txBody>
                    <a:bodyPr/>
                    <a:lstStyle/>
                    <a:p>
                      <a:r>
                        <a:rPr lang="es-CL" dirty="0"/>
                        <a:t>Cuidador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Iniciar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sesión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- 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Gestionar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medicamentos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- 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Gestionar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agenda - 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Atender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alertas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SOS - 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Jugar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Memorice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- Ver 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seguimiento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3221672"/>
                  </a:ext>
                </a:extLst>
              </a:tr>
              <a:tr h="904867">
                <a:tc>
                  <a:txBody>
                    <a:bodyPr/>
                    <a:lstStyle/>
                    <a:p>
                      <a:r>
                        <a:rPr lang="es-CL" dirty="0"/>
                        <a:t>Familiar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Iniciar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sesión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- 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Consultar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medicamentos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- Agenda y 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progreso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- 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Atender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alertas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SOS</a:t>
                      </a:r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58203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FFFFFF"/>
                </a:solidFill>
                <a:latin typeface="Arial"/>
              </a:rPr>
              <a:t>Plan de trabajo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4781354"/>
              </p:ext>
            </p:extLst>
          </p:nvPr>
        </p:nvGraphicFramePr>
        <p:xfrm>
          <a:off x="389744" y="1004341"/>
          <a:ext cx="8394490" cy="3542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507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50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4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369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6781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Incremento</a:t>
                      </a:r>
                    </a:p>
                  </a:txBody>
                  <a:tcPr marL="54864" marR="54864" marT="18288" marB="18288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Duración</a:t>
                      </a:r>
                    </a:p>
                  </a:txBody>
                  <a:tcPr marL="54864" marR="54864" marT="18288" marB="18288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Arial"/>
                        </a:rPr>
                        <a:t>Tareas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Arial"/>
                        </a:rPr>
                        <a:t>principales</a:t>
                      </a:r>
                      <a:endParaRPr sz="105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Entregable</a:t>
                      </a:r>
                    </a:p>
                  </a:txBody>
                  <a:tcPr marL="54864" marR="54864" marT="18288" marB="18288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7812"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Inc. 1  Base y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autenticación</a:t>
                      </a:r>
                      <a:endParaRPr sz="1400" dirty="0">
                        <a:solidFill>
                          <a:srgbClr val="22222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sem.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Monorepo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y BD;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arquitectura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capas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;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modelo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centrado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AdultoMayor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;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registro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/login; roles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Base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funcional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con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autenticación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y control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por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rol</a:t>
                      </a:r>
                      <a:endParaRPr sz="1400" dirty="0">
                        <a:solidFill>
                          <a:srgbClr val="22222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7812"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Inc. 2 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Medicamentos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y agenda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sem.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CRUD de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medicamentos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borrado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lógico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);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registro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de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tomas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e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historial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; agenda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diaria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por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hora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Módulos de medicamentos y agenda operativos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7812"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Inc. 3 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Alertas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juegos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y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recordatorios</a:t>
                      </a:r>
                      <a:endParaRPr sz="1400" dirty="0">
                        <a:solidFill>
                          <a:srgbClr val="22222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sem.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Botón y panel SOS; Memorice + seguimiento; recordatorios y notificaciones; casos de prueba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Alertas, juego y recordatorios integrados y probados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7812"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Inc. 4 Familia,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bitácora</a:t>
                      </a:r>
                      <a:r>
                        <a:rPr lang="es-CL"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Juegos Cognitivos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y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despliegue</a:t>
                      </a:r>
                      <a:endParaRPr sz="1400" dirty="0">
                        <a:solidFill>
                          <a:srgbClr val="22222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sem.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Módulo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de red de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apoyo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familiar;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bitácora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diaria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; </a:t>
                      </a:r>
                      <a:r>
                        <a:rPr lang="es-CL"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Juegos Cognitivos;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despliegue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productivo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y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validación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E2E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Plataforma completa 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desplegada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sz="1400" dirty="0" err="1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evaluación</a:t>
                      </a:r>
                      <a:r>
                        <a:rPr sz="140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final)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89744" y="4538530"/>
            <a:ext cx="7882127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Sprint actual (Inc. 4) — </a:t>
            </a:r>
            <a:r>
              <a:rPr sz="1400" b="1" dirty="0" err="1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planificación</a:t>
            </a:r>
            <a:r>
              <a:rPr sz="1400" b="1" dirty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dirty="0" err="1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semanal</a:t>
            </a:r>
            <a:endParaRPr sz="1400" b="1" dirty="0">
              <a:solidFill>
                <a:srgbClr val="333333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sz="1400" b="0" dirty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 Semana 1: </a:t>
            </a:r>
            <a:r>
              <a:rPr sz="1400" b="0" dirty="0" err="1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módulo</a:t>
            </a:r>
            <a:r>
              <a:rPr sz="1400" b="0" dirty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red de </a:t>
            </a:r>
            <a:r>
              <a:rPr sz="1400" b="0" dirty="0" err="1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apoyo</a:t>
            </a:r>
            <a:r>
              <a:rPr sz="1400" b="0" dirty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familiar (</a:t>
            </a:r>
            <a:r>
              <a:rPr sz="1400" b="0" dirty="0" err="1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gestión</a:t>
            </a:r>
            <a:r>
              <a:rPr sz="1400" b="0" dirty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sz="1400" b="0" dirty="0" err="1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familiares</a:t>
            </a:r>
            <a:r>
              <a:rPr sz="1400" b="0" dirty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y </a:t>
            </a:r>
            <a:r>
              <a:rPr sz="1400" b="0" dirty="0" err="1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bitácora</a:t>
            </a:r>
            <a:r>
              <a:rPr sz="1400" b="0" dirty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diaria</a:t>
            </a:r>
            <a:r>
              <a:rPr sz="1400" b="0" dirty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sz="1400" b="0" dirty="0" err="1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ánimo</a:t>
            </a:r>
            <a:r>
              <a:rPr sz="1400" b="0" dirty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400" b="0" dirty="0" err="1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comidas</a:t>
            </a:r>
            <a:r>
              <a:rPr sz="1400" b="0" dirty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sz="1400" b="0" dirty="0" err="1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notas</a:t>
            </a:r>
            <a:r>
              <a:rPr sz="1400" b="0" dirty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r>
              <a:rPr sz="1400" b="0" dirty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 Semana 2: </a:t>
            </a:r>
            <a:r>
              <a:rPr sz="1400" b="0" dirty="0" err="1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despliegue</a:t>
            </a:r>
            <a:r>
              <a:rPr sz="1400" b="0" dirty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productivo</a:t>
            </a:r>
            <a:r>
              <a:rPr sz="1400" b="0" dirty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(frontend </a:t>
            </a:r>
            <a:r>
              <a:rPr sz="1400" b="0" dirty="0" err="1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estático</a:t>
            </a:r>
            <a:r>
              <a:rPr sz="1400" b="0" dirty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+ backend Node + </a:t>
            </a:r>
            <a:r>
              <a:rPr sz="1400" b="0" dirty="0" err="1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Supabase</a:t>
            </a:r>
            <a:r>
              <a:rPr sz="1400" b="0" dirty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y </a:t>
            </a:r>
            <a:r>
              <a:rPr sz="1400" b="0" dirty="0" err="1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validación</a:t>
            </a:r>
            <a:r>
              <a:rPr sz="1400" b="0" dirty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integral de extremo a extremo.</a:t>
            </a:r>
          </a:p>
          <a:p>
            <a:r>
              <a:rPr sz="1400" b="0" dirty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 </a:t>
            </a:r>
            <a:r>
              <a:rPr sz="1400" b="0" dirty="0" err="1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Entregable</a:t>
            </a:r>
            <a:r>
              <a:rPr sz="1400" b="0" dirty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definido</a:t>
            </a:r>
            <a:r>
              <a:rPr sz="1400" b="0" dirty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sz="1400" b="0" dirty="0" err="1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plataforma</a:t>
            </a:r>
            <a:r>
              <a:rPr sz="1400" b="0" dirty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completa </a:t>
            </a:r>
            <a:r>
              <a:rPr sz="1400" b="0" dirty="0" err="1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desplegada</a:t>
            </a:r>
            <a:r>
              <a:rPr sz="1400" b="0" dirty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sz="1400" b="0" dirty="0" err="1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verificada</a:t>
            </a:r>
            <a:r>
              <a:rPr sz="1400" b="0" dirty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400" b="0" dirty="0" err="1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lista</a:t>
            </a:r>
            <a:r>
              <a:rPr sz="1400" b="0" dirty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para la </a:t>
            </a:r>
            <a:r>
              <a:rPr sz="1400" b="0" dirty="0" err="1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</a:t>
            </a:r>
            <a:r>
              <a:rPr sz="1400" b="0" dirty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final.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FFFFFF"/>
                </a:solidFill>
                <a:latin typeface="Arial"/>
              </a:rPr>
              <a:t>Vista lógica: modelo de datos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A8181F9-E5AE-DE3D-DFB6-25D8FB1767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702" y="845074"/>
            <a:ext cx="5039692" cy="581063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FFFFFF"/>
                </a:solidFill>
                <a:latin typeface="Arial"/>
              </a:rPr>
              <a:t>Entidades del modelo (vista lógica)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30936" y="1234440"/>
          <a:ext cx="7882126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76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20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36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Entidad</a:t>
                      </a:r>
                    </a:p>
                  </a:txBody>
                  <a:tcPr marL="54864" marR="54864" marT="18288" marB="18288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Qué representa</a:t>
                      </a:r>
                    </a:p>
                  </a:txBody>
                  <a:tcPr marL="54864" marR="54864" marT="18288" marB="18288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Campos clave</a:t>
                      </a:r>
                    </a:p>
                  </a:txBody>
                  <a:tcPr marL="54864" marR="54864" marT="18288" marB="18288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Arial"/>
                        </a:rPr>
                        <a:t>Usuario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Arial"/>
                        </a:rPr>
                        <a:t>Cuenta que inicia sesión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Arial"/>
                        </a:rPr>
                        <a:t>nombreUsuario, email?, password (hash), rol, adultoMayorId?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Arial"/>
                        </a:rPr>
                        <a:t>AdultoMayor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Arial"/>
                        </a:rPr>
                        <a:t>Persona cuidada (centro)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 err="1">
                          <a:solidFill>
                            <a:srgbClr val="222222"/>
                          </a:solidFill>
                          <a:latin typeface="Arial"/>
                        </a:rPr>
                        <a:t>nombre</a:t>
                      </a:r>
                      <a:r>
                        <a:rPr sz="1000" dirty="0">
                          <a:solidFill>
                            <a:srgbClr val="222222"/>
                          </a:solidFill>
                          <a:latin typeface="Arial"/>
                        </a:rPr>
                        <a:t>, </a:t>
                      </a:r>
                      <a:r>
                        <a:rPr sz="1000" dirty="0" err="1">
                          <a:solidFill>
                            <a:srgbClr val="222222"/>
                          </a:solidFill>
                          <a:latin typeface="Arial"/>
                        </a:rPr>
                        <a:t>fechaNacimiento</a:t>
                      </a:r>
                      <a:r>
                        <a:rPr sz="1000" dirty="0">
                          <a:solidFill>
                            <a:srgbClr val="222222"/>
                          </a:solidFill>
                          <a:latin typeface="Arial"/>
                        </a:rPr>
                        <a:t>?, </a:t>
                      </a:r>
                      <a:r>
                        <a:rPr sz="1000" dirty="0" err="1">
                          <a:solidFill>
                            <a:srgbClr val="222222"/>
                          </a:solidFill>
                          <a:latin typeface="Arial"/>
                        </a:rPr>
                        <a:t>notas</a:t>
                      </a:r>
                      <a:r>
                        <a:rPr sz="1000" dirty="0">
                          <a:solidFill>
                            <a:srgbClr val="222222"/>
                          </a:solidFill>
                          <a:latin typeface="Arial"/>
                        </a:rPr>
                        <a:t>?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Arial"/>
                        </a:rPr>
                        <a:t>Medicamento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Arial"/>
                        </a:rPr>
                        <a:t>Remedio del adulto mayor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Arial"/>
                        </a:rPr>
                        <a:t>nombre, dosis, horario, activo (borrado lógico)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Arial"/>
                        </a:rPr>
                        <a:t>RegistroMedicamento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Arial"/>
                        </a:rPr>
                        <a:t>Una toma (o no)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Arial"/>
                        </a:rPr>
                        <a:t>administrado, fechaHora, registradoPorId?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Arial"/>
                        </a:rPr>
                        <a:t>EventoAgenda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Arial"/>
                        </a:rPr>
                        <a:t>Actividad de la rutina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Arial"/>
                        </a:rPr>
                        <a:t>titulo, hora, icono?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Arial"/>
                        </a:rPr>
                        <a:t>AlertaSos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Arial"/>
                        </a:rPr>
                        <a:t>Pedido de ayuda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Arial"/>
                        </a:rPr>
                        <a:t>mensaje?, atendida, atendidaEn?, creadaPorId?, atendidaPorId?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Arial"/>
                        </a:rPr>
                        <a:t>SesionJuego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Arial"/>
                        </a:rPr>
                        <a:t>Resultado de una partida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Arial"/>
                        </a:rPr>
                        <a:t>fecha, puntaje, aciertos, errores, duracionSegundos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Arial"/>
                        </a:rPr>
                        <a:t>Familiar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Arial"/>
                        </a:rPr>
                        <a:t>Contacto de la red de apoyo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Arial"/>
                        </a:rPr>
                        <a:t>nombre, relacion, fotoUrl?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Arial"/>
                        </a:rPr>
                        <a:t>EntradaBitacora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Arial"/>
                        </a:rPr>
                        <a:t>Bitácora diaria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 err="1">
                          <a:solidFill>
                            <a:srgbClr val="222222"/>
                          </a:solidFill>
                          <a:latin typeface="Arial"/>
                        </a:rPr>
                        <a:t>fecha</a:t>
                      </a:r>
                      <a:r>
                        <a:rPr sz="1000" dirty="0">
                          <a:solidFill>
                            <a:srgbClr val="222222"/>
                          </a:solidFill>
                          <a:latin typeface="Arial"/>
                        </a:rPr>
                        <a:t>, animo, </a:t>
                      </a:r>
                      <a:r>
                        <a:rPr sz="1000" dirty="0" err="1">
                          <a:solidFill>
                            <a:srgbClr val="222222"/>
                          </a:solidFill>
                          <a:latin typeface="Arial"/>
                        </a:rPr>
                        <a:t>comidas</a:t>
                      </a:r>
                      <a:r>
                        <a:rPr sz="1000" dirty="0">
                          <a:solidFill>
                            <a:srgbClr val="222222"/>
                          </a:solidFill>
                          <a:latin typeface="Arial"/>
                        </a:rPr>
                        <a:t>?, </a:t>
                      </a:r>
                      <a:r>
                        <a:rPr sz="1000" dirty="0" err="1">
                          <a:solidFill>
                            <a:srgbClr val="222222"/>
                          </a:solidFill>
                          <a:latin typeface="Arial"/>
                        </a:rPr>
                        <a:t>notas</a:t>
                      </a:r>
                      <a:r>
                        <a:rPr sz="1000" dirty="0">
                          <a:solidFill>
                            <a:srgbClr val="222222"/>
                          </a:solidFill>
                          <a:latin typeface="Arial"/>
                        </a:rPr>
                        <a:t>?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FFFFFF"/>
                </a:solidFill>
                <a:latin typeface="Arial"/>
              </a:rPr>
              <a:t>Vista de desarrollo: arquitectura en capas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01EC05E-BEEA-0F64-1C85-04BD31C61A9E}"/>
              </a:ext>
            </a:extLst>
          </p:cNvPr>
          <p:cNvSpPr txBox="1"/>
          <p:nvPr/>
        </p:nvSpPr>
        <p:spPr>
          <a:xfrm>
            <a:off x="195432" y="5341870"/>
            <a:ext cx="76459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/>
              <a:t>Este diagrama representa la arquitectura de una aplicación web, dividida en Front-End, Back-End, </a:t>
            </a:r>
            <a:endParaRPr lang="es-CL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C39C95B7-AD98-13DF-42C1-247BF5FA6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432" y="1581117"/>
            <a:ext cx="8783676" cy="352729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FFFFFF"/>
                </a:solidFill>
                <a:latin typeface="Arial"/>
              </a:rPr>
              <a:t>Vista física: despliegue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0BD0914C-6CF9-1F95-73C1-11F75B863336}"/>
              </a:ext>
            </a:extLst>
          </p:cNvPr>
          <p:cNvSpPr txBox="1"/>
          <p:nvPr/>
        </p:nvSpPr>
        <p:spPr>
          <a:xfrm>
            <a:off x="254833" y="5415947"/>
            <a:ext cx="722525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419" sz="1800" b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Este diagrama de despliegue muestra cómo los componentes de la aplicación web están distribuidos físicamente y cómo interactúan entre sí</a:t>
            </a:r>
            <a:endParaRPr lang="es-MX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01BE7FD2-C7CE-88BC-C507-D547928CA6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813" y="949885"/>
            <a:ext cx="8601115" cy="44413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FFFFFF"/>
                </a:solidFill>
                <a:latin typeface="Arial"/>
              </a:rPr>
              <a:t>Árbol de navegación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20C650DF-152F-A0A4-25B1-3733186748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863" y="1352372"/>
            <a:ext cx="8532274" cy="435887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15DF4-3D3A-D5BA-425C-5A23E5122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82935-047A-9E01-4747-1C76B4BD6D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FFFFFF"/>
                </a:solidFill>
                <a:latin typeface="Arial"/>
              </a:rPr>
              <a:t>Casos de prueba (caja negra)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23DA149-A903-3035-DC0E-7137DD823E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21" y="1193799"/>
            <a:ext cx="8884157" cy="4470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5109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FFFFFF"/>
                </a:solidFill>
                <a:latin typeface="Arial"/>
              </a:rPr>
              <a:t>Cumplimiento del plan de trabajo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30936" y="1234440"/>
          <a:ext cx="7882127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96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324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Incremento</a:t>
                      </a:r>
                    </a:p>
                  </a:txBody>
                  <a:tcPr marL="54864" marR="54864" marT="18288" marB="18288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Alcance entregado</a:t>
                      </a:r>
                    </a:p>
                  </a:txBody>
                  <a:tcPr marL="54864" marR="54864" marT="18288" marB="18288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Estado</a:t>
                      </a:r>
                    </a:p>
                  </a:txBody>
                  <a:tcPr marL="54864" marR="54864" marT="18288" marB="18288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Inc. 1 — Base y autenticación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Monorepo, base de datos y arquitectura en capas; modelo centrado en AdultoMayor; autenticación y roles.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Completado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Inc. 2 — Medicamentos y agenda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solidFill>
                            <a:srgbClr val="222222"/>
                          </a:solidFill>
                          <a:latin typeface="Arial"/>
                        </a:rPr>
                        <a:t>Módulo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Arial"/>
                        </a:rPr>
                        <a:t> de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Arial"/>
                        </a:rPr>
                        <a:t>medicamentos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Arial"/>
                        </a:rPr>
                        <a:t> (CRUD con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Arial"/>
                        </a:rPr>
                        <a:t>borrado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Arial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Arial"/>
                        </a:rPr>
                        <a:t>lógico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Arial"/>
                        </a:rPr>
                        <a:t>,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Arial"/>
                        </a:rPr>
                        <a:t>tomas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Arial"/>
                        </a:rPr>
                        <a:t> e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Arial"/>
                        </a:rPr>
                        <a:t>historial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Arial"/>
                        </a:rPr>
                        <a:t>) y agenda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Arial"/>
                        </a:rPr>
                        <a:t>diaria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Arial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Arial"/>
                        </a:rPr>
                        <a:t>por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Arial"/>
                        </a:rPr>
                        <a:t> hora.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Completado</a:t>
                      </a:r>
                    </a:p>
                  </a:txBody>
                  <a:tcPr marL="54864" marR="54864" marT="9144" marB="9144" anchor="ctr">
                    <a:solidFill>
                      <a:srgbClr val="E9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Inc. 3 — Alertas, juegos y recordatorios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Arial"/>
                        </a:rPr>
                        <a:t>Alertas SOS (botón, panel y atención); juego Memorice con seguimiento; recordatorios y notificaciones.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solidFill>
                            <a:srgbClr val="222222"/>
                          </a:solidFill>
                          <a:latin typeface="Arial"/>
                        </a:rPr>
                        <a:t>Completado</a:t>
                      </a:r>
                      <a:endParaRPr sz="1100" dirty="0">
                        <a:solidFill>
                          <a:srgbClr val="222222"/>
                        </a:solidFill>
                        <a:latin typeface="Arial"/>
                      </a:endParaRP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30936" y="3977639"/>
            <a:ext cx="7882127" cy="1601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Bef>
                <a:spcPts val="400"/>
              </a:spcBef>
              <a:spcAft>
                <a:spcPts val="600"/>
              </a:spcAft>
            </a:pPr>
            <a:r>
              <a:rPr sz="1500" b="1" dirty="0">
                <a:solidFill>
                  <a:srgbClr val="4472C4"/>
                </a:solidFill>
                <a:latin typeface="Arial"/>
              </a:rPr>
              <a:t>Estado y </a:t>
            </a:r>
            <a:r>
              <a:rPr sz="1500" b="1" dirty="0" err="1">
                <a:solidFill>
                  <a:srgbClr val="4472C4"/>
                </a:solidFill>
                <a:latin typeface="Arial"/>
              </a:rPr>
              <a:t>cumplimiento</a:t>
            </a:r>
            <a:endParaRPr sz="1500" b="1" dirty="0">
              <a:solidFill>
                <a:srgbClr val="4472C4"/>
              </a:solidFill>
              <a:latin typeface="Arial"/>
            </a:endParaRP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0" dirty="0">
                <a:solidFill>
                  <a:srgbClr val="222222"/>
                </a:solidFill>
                <a:latin typeface="Arial"/>
              </a:rPr>
              <a:t>•  Incrementos 1–3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completados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 al 100%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en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plazo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 y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calidad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;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verificados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 con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los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casos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 de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prueba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0" dirty="0">
                <a:solidFill>
                  <a:srgbClr val="222222"/>
                </a:solidFill>
                <a:latin typeface="Arial"/>
              </a:rPr>
              <a:t>• 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Completado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: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autenticación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 y roles;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medicamentos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 y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tomas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; agenda;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alertas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 SOS;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Memorice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 y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seguimiento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;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recordatorios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0" dirty="0">
                <a:solidFill>
                  <a:srgbClr val="222222"/>
                </a:solidFill>
                <a:latin typeface="Arial"/>
              </a:rPr>
              <a:t>• 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Pendiente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 (Inc. 4):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módulo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 «Familia» (red de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apoyo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);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bitácora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diaria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;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despliegue</a:t>
            </a:r>
            <a:r>
              <a:rPr sz="1300" b="0" dirty="0">
                <a:solidFill>
                  <a:srgbClr val="22222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Arial"/>
              </a:rPr>
              <a:t>productivo</a:t>
            </a:r>
            <a:r>
              <a:rPr lang="es-CL" sz="1300" dirty="0">
                <a:solidFill>
                  <a:srgbClr val="222222"/>
                </a:solidFill>
                <a:latin typeface="Arial"/>
              </a:rPr>
              <a:t> y mas    Juegos Cognitivos</a:t>
            </a:r>
            <a:endParaRPr sz="1300" b="0" dirty="0">
              <a:solidFill>
                <a:srgbClr val="22222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FFFFFF"/>
                </a:solidFill>
                <a:latin typeface="Arial"/>
              </a:rPr>
              <a:t>Retrospectiva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7FCF029-597B-F506-631B-59593971B546}"/>
              </a:ext>
            </a:extLst>
          </p:cNvPr>
          <p:cNvSpPr txBox="1"/>
          <p:nvPr/>
        </p:nvSpPr>
        <p:spPr>
          <a:xfrm>
            <a:off x="269824" y="921104"/>
            <a:ext cx="8019738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desarrollo de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CuidaMayor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fue exitoso en sus objetivos centrales: se construyó una plataforma web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fullstack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funcional, con una arquitectura sólida, autenticación por roles, un diseño accesible pensado para adultos mayores y módulos operativos de medicamentos, agenda, alertas SOS, recordatorios y estimulación cognitiva. aunque quedaron pendientes la galería de reconocimiento familiar, la bitácora con panel familiar y mas Juegos Cognitivos. </a:t>
            </a:r>
          </a:p>
          <a:p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 balance, el proyecto alcanzó un resultado satisfactorio en calidad técnica, foco en el usuario y demostrabilidad, consolidando una base robusta y ampliable.</a:t>
            </a:r>
            <a:endParaRPr lang="es-CL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E24082B-1305-5C62-89B0-89C575F750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20455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018EDA-4A7C-34D8-B774-8AF7176F1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CL" sz="3000" b="1" dirty="0">
                <a:latin typeface="Arial" panose="020B0604020202020204" pitchFamily="34" charset="0"/>
                <a:cs typeface="Arial" panose="020B0604020202020204" pitchFamily="34" charset="0"/>
              </a:rPr>
              <a:t>Conclusión y Trabajos Futuros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1242730-D2B7-F9A6-956F-8B55C0F90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2F6F5-E16D-F340-A90C-ABCF032D59B6}" type="slidenum">
              <a:rPr lang="es-ES_tradnl" smtClean="0"/>
              <a:pPr/>
              <a:t>23</a:t>
            </a:fld>
            <a:endParaRPr lang="es-ES_tradnl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918669F-B37A-8B0C-FD28-0B63889C46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62" y="1540528"/>
            <a:ext cx="7305675" cy="4095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876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FFFFFF"/>
                </a:solidFill>
                <a:latin typeface="Arial"/>
              </a:rPr>
              <a:t>Referencias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0936" y="1234440"/>
            <a:ext cx="7882127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Arial"/>
              </a:rPr>
              <a:t>•  CogniFit. (2026). CogniFit: Entrenamiento cerebral y juegos cognitivos. https://www.cognifit.com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Arial"/>
              </a:rPr>
              <a:t>•  Kruchten, P. (1995). Architectural blueprints — The «4+1» view model of software architecture. IEEE Software, 12(6), 42–50.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Arial"/>
              </a:rPr>
              <a:t>•  Kwido. (2026). Kwido Mementia: Plataforma de estimulación cognitiva para mayores. https://kwido.com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Arial"/>
              </a:rPr>
              <a:t>•  Medisafe. (2026). Medisafe: Medication management. https://www.medisafe.com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Arial"/>
              </a:rPr>
              <a:t>•  Meta Platforms. (2024). React: The library for web and native user interfaces. https://react.dev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Arial"/>
              </a:rPr>
              <a:t>•  MyTherapy. (2026). MyTherapy: Medication reminder and pill tracker. https://www.mytherapyapp.com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Arial"/>
              </a:rPr>
              <a:t>•  Norman, D. A. (2013). The design of everyday things (ed. rev. y ampl.). Basic Books.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FFFFFF"/>
                </a:solidFill>
                <a:latin typeface="Arial"/>
              </a:rPr>
              <a:t>Referencias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0936" y="1234440"/>
            <a:ext cx="7882127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Arial"/>
              </a:rPr>
              <a:t>•  OpenJS Foundation. (2024). Node.js documentation. https://nodejs.org/en/docs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Arial"/>
              </a:rPr>
              <a:t>•  Organización Mundial de la Salud. (2023a). Demencia. https://www.who.int/es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Arial"/>
              </a:rPr>
              <a:t>•  Organización Mundial de la Salud. (2023b). Envejecimiento y salud. https://www.who.int/es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Arial"/>
              </a:rPr>
              <a:t>•  Prisma. (2024). Prisma ORM documentation. https://www.prisma.io/docs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Arial"/>
              </a:rPr>
              <a:t>•  Schwaber, K., &amp; Sutherland, J. (2020). The Scrum Guide. https://scrumguides.org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Arial"/>
              </a:rPr>
              <a:t>•  Woods, B., Aguirre, E., Spector, A. E., &amp; Orrell, M. (2012). Cognitive stimulation for dementia. Cochrane Database of Systematic Reviews.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Arial"/>
              </a:rPr>
              <a:t>•  World Wide Web Consortium (W3C). (2023). Web Content Accessibility Guidelines (WCAG) 2.2. https://www.w3.org/TR/WCAG22/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cto 5"/>
          <p:cNvCxnSpPr>
            <a:cxnSpLocks/>
          </p:cNvCxnSpPr>
          <p:nvPr/>
        </p:nvCxnSpPr>
        <p:spPr>
          <a:xfrm>
            <a:off x="492141" y="3591697"/>
            <a:ext cx="8156559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/>
          <p:cNvCxnSpPr/>
          <p:nvPr/>
        </p:nvCxnSpPr>
        <p:spPr>
          <a:xfrm flipH="1">
            <a:off x="2186081" y="2158313"/>
            <a:ext cx="1" cy="127315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/>
          <p:cNvSpPr txBox="1"/>
          <p:nvPr/>
        </p:nvSpPr>
        <p:spPr>
          <a:xfrm>
            <a:off x="2421925" y="2108030"/>
            <a:ext cx="6093425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4000" b="1" dirty="0">
                <a:solidFill>
                  <a:schemeClr val="bg1"/>
                </a:solidFill>
                <a:latin typeface="Arial"/>
              </a:rPr>
              <a:t>¡Gracias!</a:t>
            </a:r>
          </a:p>
          <a:p>
            <a:endParaRPr lang="es-CL" sz="1800" b="0" dirty="0">
              <a:solidFill>
                <a:schemeClr val="bg1"/>
              </a:solidFill>
              <a:latin typeface="Arial"/>
            </a:endParaRPr>
          </a:p>
          <a:p>
            <a:pPr algn="ctr"/>
            <a:r>
              <a:rPr sz="1800" b="0" dirty="0">
                <a:solidFill>
                  <a:schemeClr val="bg1"/>
                </a:solidFill>
                <a:latin typeface="Arial"/>
              </a:rPr>
              <a:t>Plataforma Web </a:t>
            </a:r>
            <a:r>
              <a:rPr sz="1800" b="0" dirty="0" err="1">
                <a:solidFill>
                  <a:schemeClr val="bg1"/>
                </a:solidFill>
                <a:latin typeface="Arial"/>
              </a:rPr>
              <a:t>CuidaMayor</a:t>
            </a:r>
            <a:endParaRPr sz="1800" b="0" dirty="0">
              <a:solidFill>
                <a:schemeClr val="bg1"/>
              </a:solidFill>
              <a:latin typeface="Arial"/>
            </a:endParaRPr>
          </a:p>
        </p:txBody>
      </p:sp>
      <p:sp>
        <p:nvSpPr>
          <p:cNvPr id="13" name="CuadroTexto 12"/>
          <p:cNvSpPr txBox="1"/>
          <p:nvPr/>
        </p:nvSpPr>
        <p:spPr>
          <a:xfrm>
            <a:off x="4224691" y="3732649"/>
            <a:ext cx="39655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Facultad de Ingeniería</a:t>
            </a:r>
          </a:p>
          <a:p>
            <a:r>
              <a:rPr lang="es-ES_tradnl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Ingeniería Civil Informática</a:t>
            </a:r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505" b="24764"/>
          <a:stretch/>
        </p:blipFill>
        <p:spPr>
          <a:xfrm>
            <a:off x="-14013" y="-41564"/>
            <a:ext cx="9172026" cy="1435697"/>
          </a:xfrm>
          <a:prstGeom prst="rect">
            <a:avLst/>
          </a:prstGeom>
        </p:spPr>
      </p:pic>
      <p:pic>
        <p:nvPicPr>
          <p:cNvPr id="15" name="Imagen 1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53" t="46510" r="153" b="5990"/>
          <a:stretch/>
        </p:blipFill>
        <p:spPr>
          <a:xfrm>
            <a:off x="-14013" y="5486719"/>
            <a:ext cx="9172026" cy="1371281"/>
          </a:xfrm>
          <a:prstGeom prst="rect">
            <a:avLst/>
          </a:prstGeom>
        </p:spPr>
      </p:pic>
      <p:pic>
        <p:nvPicPr>
          <p:cNvPr id="17" name="Imagen 1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349" y="2158313"/>
            <a:ext cx="1279083" cy="1189591"/>
          </a:xfrm>
          <a:prstGeom prst="rect">
            <a:avLst/>
          </a:prstGeom>
        </p:spPr>
      </p:pic>
      <p:sp>
        <p:nvSpPr>
          <p:cNvPr id="12" name="11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2F6F5-E16D-F340-A90C-ABCF032D59B6}" type="slidenum">
              <a:rPr lang="es-ES_tradnl" smtClean="0"/>
              <a:pPr/>
              <a:t>26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415245081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907</TotalTime>
  <Words>2300</Words>
  <Application>Microsoft Office PowerPoint</Application>
  <PresentationFormat>Carta (216 x 279 mm)</PresentationFormat>
  <Paragraphs>297</Paragraphs>
  <Slides>26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26</vt:i4>
      </vt:variant>
    </vt:vector>
  </HeadingPairs>
  <TitlesOfParts>
    <vt:vector size="31" baseType="lpstr">
      <vt:lpstr>Arial</vt:lpstr>
      <vt:lpstr>Calibri</vt:lpstr>
      <vt:lpstr>Calibri Light</vt:lpstr>
      <vt:lpstr>Times New Roman</vt:lpstr>
      <vt:lpstr>Tema de Office</vt:lpstr>
      <vt:lpstr>Presentación de PowerPoint</vt:lpstr>
      <vt:lpstr>Contenidos</vt:lpstr>
      <vt:lpstr>Contexto y problemática</vt:lpstr>
      <vt:lpstr>La propuesta: CuidaMayor</vt:lpstr>
      <vt:lpstr>Estado del arte</vt:lpstr>
      <vt:lpstr>Comparación de soluciones existentes</vt:lpstr>
      <vt:lpstr>Marco teórico</vt:lpstr>
      <vt:lpstr>Objetivos</vt:lpstr>
      <vt:lpstr>Metodología de Trabajo</vt:lpstr>
      <vt:lpstr>Levantamiento de procesos</vt:lpstr>
      <vt:lpstr>Requisitos funcionales</vt:lpstr>
      <vt:lpstr>Requisitos no</vt:lpstr>
      <vt:lpstr>Casos de uso</vt:lpstr>
      <vt:lpstr>Plan de trabajo</vt:lpstr>
      <vt:lpstr>Vista lógica: modelo de datos</vt:lpstr>
      <vt:lpstr>Entidades del modelo (vista lógica)</vt:lpstr>
      <vt:lpstr>Vista de desarrollo: arquitectura en capas</vt:lpstr>
      <vt:lpstr>Vista física: despliegue</vt:lpstr>
      <vt:lpstr>Árbol de navegación</vt:lpstr>
      <vt:lpstr>Casos de prueba (caja negra)</vt:lpstr>
      <vt:lpstr>Cumplimiento del plan de trabajo</vt:lpstr>
      <vt:lpstr>Retrospectiva</vt:lpstr>
      <vt:lpstr>Conclusión y Trabajos Futuros</vt:lpstr>
      <vt:lpstr>Referencias (1/2)</vt:lpstr>
      <vt:lpstr>Referencias (2/2)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Usuario de Microsoft Office</dc:creator>
  <cp:lastModifiedBy>Diego Muñoz</cp:lastModifiedBy>
  <cp:revision>35</cp:revision>
  <dcterms:created xsi:type="dcterms:W3CDTF">2018-06-26T20:44:09Z</dcterms:created>
  <dcterms:modified xsi:type="dcterms:W3CDTF">2026-07-03T04:19:04Z</dcterms:modified>
</cp:coreProperties>
</file>